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6858000" cx="9144000"/>
  <p:notesSz cx="9925050" cy="66659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100" orient="horz"/>
        <p:guide pos="3126"/>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2" y="0"/>
            <a:ext cx="4300855" cy="333296"/>
          </a:xfrm>
          <a:prstGeom prst="rect">
            <a:avLst/>
          </a:prstGeom>
          <a:noFill/>
          <a:ln>
            <a:noFill/>
          </a:ln>
        </p:spPr>
        <p:txBody>
          <a:bodyPr anchorCtr="0" anchor="t" bIns="45350" lIns="90700" spcFirstLastPara="1" rIns="90700" wrap="square" tIns="453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621901" y="0"/>
            <a:ext cx="4300855" cy="333296"/>
          </a:xfrm>
          <a:prstGeom prst="rect">
            <a:avLst/>
          </a:prstGeom>
          <a:noFill/>
          <a:ln>
            <a:noFill/>
          </a:ln>
        </p:spPr>
        <p:txBody>
          <a:bodyPr anchorCtr="0" anchor="t" bIns="45350" lIns="90700" spcFirstLastPara="1" rIns="90700" wrap="square" tIns="4535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295650" y="500063"/>
            <a:ext cx="3333750" cy="25003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92506" y="3166309"/>
            <a:ext cx="7940040" cy="2999661"/>
          </a:xfrm>
          <a:prstGeom prst="rect">
            <a:avLst/>
          </a:prstGeom>
          <a:noFill/>
          <a:ln>
            <a:noFill/>
          </a:ln>
        </p:spPr>
        <p:txBody>
          <a:bodyPr anchorCtr="0" anchor="t" bIns="45350" lIns="90700" spcFirstLastPara="1" rIns="90700" wrap="square" tIns="4535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304800" lvl="1" marL="914400" marR="0" rtl="0" algn="l">
              <a:spcBef>
                <a:spcPts val="36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304800" lvl="2" marL="1371600" marR="0" rtl="0" algn="l">
              <a:spcBef>
                <a:spcPts val="360"/>
              </a:spcBef>
              <a:spcAft>
                <a:spcPts val="0"/>
              </a:spcAft>
              <a:buClr>
                <a:schemeClr val="dk1"/>
              </a:buClr>
              <a:buSzPts val="1200"/>
              <a:buFont typeface="Noto Sans Symbols"/>
              <a:buChar char="−"/>
              <a:defRPr b="0" i="0" sz="1200" u="none" cap="none" strike="noStrike">
                <a:solidFill>
                  <a:schemeClr val="dk1"/>
                </a:solidFill>
                <a:latin typeface="Calibri"/>
                <a:ea typeface="Calibri"/>
                <a:cs typeface="Calibri"/>
                <a:sym typeface="Calibri"/>
              </a:defRPr>
            </a:lvl3pPr>
            <a:lvl4pPr indent="-304800" lvl="3" marL="1828800" marR="0" rtl="0" algn="l">
              <a:spcBef>
                <a:spcPts val="360"/>
              </a:spcBef>
              <a:spcAft>
                <a:spcPts val="0"/>
              </a:spcAft>
              <a:buClr>
                <a:schemeClr val="dk1"/>
              </a:buClr>
              <a:buSzPts val="1200"/>
              <a:buFont typeface="Courier New"/>
              <a:buChar char="o"/>
              <a:defRPr b="0" i="0" sz="1200" u="none" cap="none" strike="noStrike">
                <a:solidFill>
                  <a:schemeClr val="dk1"/>
                </a:solidFill>
                <a:latin typeface="Calibri"/>
                <a:ea typeface="Calibri"/>
                <a:cs typeface="Calibri"/>
                <a:sym typeface="Calibri"/>
              </a:defRPr>
            </a:lvl4pPr>
            <a:lvl5pPr indent="-304800" lvl="4" marL="2286000" marR="0" rtl="0" algn="l">
              <a:spcBef>
                <a:spcPts val="360"/>
              </a:spcBef>
              <a:spcAft>
                <a:spcPts val="0"/>
              </a:spcAft>
              <a:buClr>
                <a:schemeClr val="dk1"/>
              </a:buClr>
              <a:buSzPts val="1200"/>
              <a:buFont typeface="Noto Sans Symbols"/>
              <a:buChar char="▪"/>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2" y="6331460"/>
            <a:ext cx="4300855" cy="333296"/>
          </a:xfrm>
          <a:prstGeom prst="rect">
            <a:avLst/>
          </a:prstGeom>
          <a:noFill/>
          <a:ln>
            <a:noFill/>
          </a:ln>
        </p:spPr>
        <p:txBody>
          <a:bodyPr anchorCtr="0" anchor="b" bIns="45350" lIns="90700" spcFirstLastPara="1" rIns="90700" wrap="square" tIns="453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5621901" y="6331460"/>
            <a:ext cx="4300855" cy="333296"/>
          </a:xfrm>
          <a:prstGeom prst="rect">
            <a:avLst/>
          </a:prstGeom>
          <a:noFill/>
          <a:ln>
            <a:noFill/>
          </a:ln>
        </p:spPr>
        <p:txBody>
          <a:bodyPr anchorCtr="0" anchor="b" bIns="45350" lIns="90700" spcFirstLastPara="1" rIns="90700" wrap="square" tIns="4535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3295650" y="500063"/>
            <a:ext cx="3333750" cy="25003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992506" y="3166309"/>
            <a:ext cx="7940040" cy="2999661"/>
          </a:xfrm>
          <a:prstGeom prst="rect">
            <a:avLst/>
          </a:prstGeom>
          <a:noFill/>
          <a:ln>
            <a:noFill/>
          </a:ln>
        </p:spPr>
        <p:txBody>
          <a:bodyPr anchorCtr="0" anchor="t" bIns="45350" lIns="90700" spcFirstLastPara="1" rIns="90700" wrap="square" tIns="45350">
            <a:noAutofit/>
          </a:bodyPr>
          <a:lstStyle/>
          <a:p>
            <a:pPr indent="0" lvl="0" marL="0" rtl="0" algn="l">
              <a:spcBef>
                <a:spcPts val="0"/>
              </a:spcBef>
              <a:spcAft>
                <a:spcPts val="0"/>
              </a:spcAft>
              <a:buNone/>
            </a:pPr>
            <a:r>
              <a:rPr lang="de-DE"/>
              <a:t>Marc Peñalver | I’m going to present my seminar topic, the reasearch methodology i will follow what i have currently achived &amp; my next steps</a:t>
            </a:r>
            <a:endParaRPr/>
          </a:p>
        </p:txBody>
      </p:sp>
      <p:sp>
        <p:nvSpPr>
          <p:cNvPr id="90" name="Google Shape;90;p1:notes"/>
          <p:cNvSpPr txBox="1"/>
          <p:nvPr>
            <p:ph idx="12" type="sldNum"/>
          </p:nvPr>
        </p:nvSpPr>
        <p:spPr>
          <a:xfrm>
            <a:off x="5621901" y="6331460"/>
            <a:ext cx="4300855" cy="333296"/>
          </a:xfrm>
          <a:prstGeom prst="rect">
            <a:avLst/>
          </a:prstGeom>
          <a:noFill/>
          <a:ln>
            <a:noFill/>
          </a:ln>
        </p:spPr>
        <p:txBody>
          <a:bodyPr anchorCtr="0" anchor="b" bIns="45350" lIns="90700" spcFirstLastPara="1" rIns="90700" wrap="square" tIns="4535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992506" y="3166309"/>
            <a:ext cx="7940040" cy="2999661"/>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97" name="Google Shape;97;p4:notes"/>
          <p:cNvSpPr/>
          <p:nvPr>
            <p:ph idx="2" type="sldImg"/>
          </p:nvPr>
        </p:nvSpPr>
        <p:spPr>
          <a:xfrm>
            <a:off x="3295650" y="500063"/>
            <a:ext cx="3333750" cy="25003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28ab3f3fe_0_1: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05" name="Google Shape;105;g3d28ab3f3fe_0_1: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28ab3f3fe_0_15: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13" name="Google Shape;113;g3d28ab3f3fe_0_15: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28ab3f3fe_0_22: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21" name="Google Shape;121;g3d28ab3f3fe_0_22: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28ab3f3fe_0_43: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29" name="Google Shape;129;g3d28ab3f3fe_0_43: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2c273bf1c_0_29: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37" name="Google Shape;137;g3d2c273bf1c_0_29: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28ab3f3fe_0_36: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45" name="Google Shape;145;g3d28ab3f3fe_0_36: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28ab3f3fe_0_57: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53" name="Google Shape;153;g3d28ab3f3fe_0_57: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28ab3f3fe_0_68: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62" name="Google Shape;162;g3d28ab3f3fe_0_68: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2c273bf1c_0_104: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71" name="Google Shape;171;g3d2c273bf1c_0_104: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28ab3f3fe_0_84: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80" name="Google Shape;180;g3d28ab3f3fe_0_84: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28ab3f3fe_0_76: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89" name="Google Shape;189;g3d28ab3f3fe_0_76: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28ab3f3fe_0_91: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198" name="Google Shape;198;g3d28ab3f3fe_0_91: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2d0b6cd8c_0_10: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07" name="Google Shape;207;g3d2d0b6cd8c_0_10: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28ab3f3fe_0_99: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16" name="Google Shape;216;g3d28ab3f3fe_0_99: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28ab3f3fe_0_106: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25" name="Google Shape;225;g3d28ab3f3fe_0_106: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2d0b6cd8c_0_26: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34" name="Google Shape;234;g3d2d0b6cd8c_0_26: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2d0b6cd8c_0_37:notes"/>
          <p:cNvSpPr/>
          <p:nvPr>
            <p:ph idx="2" type="sldImg"/>
          </p:nvPr>
        </p:nvSpPr>
        <p:spPr>
          <a:xfrm>
            <a:off x="1654609" y="499942"/>
            <a:ext cx="6616800" cy="24996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d2d0b6cd8c_0_37:notes"/>
          <p:cNvSpPr txBox="1"/>
          <p:nvPr>
            <p:ph idx="1" type="body"/>
          </p:nvPr>
        </p:nvSpPr>
        <p:spPr>
          <a:xfrm>
            <a:off x="992505" y="3166303"/>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28ab3f3fe_0_113: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50" name="Google Shape;250;g3d28ab3f3fe_0_113: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28ab3f3fe_0_120: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59" name="Google Shape;259;g3d28ab3f3fe_0_120: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2d0b6cd8c_0_96: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68" name="Google Shape;268;g3d2d0b6cd8c_0_96: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28ab3f3fe_0_134: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77" name="Google Shape;277;g3d28ab3f3fe_0_134: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2d0b6cd8c_0_106: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86" name="Google Shape;286;g3d2d0b6cd8c_0_106: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28ab3f3fe_0_141: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295" name="Google Shape;295;g3d28ab3f3fe_0_141: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2d0b6cd8c_0_117: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304" name="Google Shape;304;g3d2d0b6cd8c_0_117: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28ab3f3fe_0_148: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313" name="Google Shape;313;g3d28ab3f3fe_0_148: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28ab3f3fe_0_155: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322" name="Google Shape;322;g3d28ab3f3fe_0_155: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28ab3f3fe_0_169: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331" name="Google Shape;331;g3d28ab3f3fe_0_169: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2c273bf1c_0_64: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340" name="Google Shape;340;g3d2c273bf1c_0_64: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28ab3f3fe_0_177: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348" name="Google Shape;348;g3d28ab3f3fe_0_177: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2c273bf1c_0_74: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rPr lang="de-DE"/>
              <a:t>The title of my work is … why?</a:t>
            </a:r>
            <a:endParaRPr/>
          </a:p>
        </p:txBody>
      </p:sp>
      <p:sp>
        <p:nvSpPr>
          <p:cNvPr id="356" name="Google Shape;356;g3d2c273bf1c_0_74: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2d0b6cd8c_0_169:notes"/>
          <p:cNvSpPr txBox="1"/>
          <p:nvPr>
            <p:ph idx="1" type="body"/>
          </p:nvPr>
        </p:nvSpPr>
        <p:spPr>
          <a:xfrm>
            <a:off x="992506" y="3166309"/>
            <a:ext cx="7940100" cy="2999700"/>
          </a:xfrm>
          <a:prstGeom prst="rect">
            <a:avLst/>
          </a:prstGeom>
        </p:spPr>
        <p:txBody>
          <a:bodyPr anchorCtr="0" anchor="t" bIns="45350" lIns="90700" spcFirstLastPara="1" rIns="90700" wrap="square" tIns="45350">
            <a:noAutofit/>
          </a:bodyPr>
          <a:lstStyle/>
          <a:p>
            <a:pPr indent="0" lvl="0" marL="0" rtl="0" algn="l">
              <a:spcBef>
                <a:spcPts val="360"/>
              </a:spcBef>
              <a:spcAft>
                <a:spcPts val="0"/>
              </a:spcAft>
              <a:buNone/>
            </a:pPr>
            <a:r>
              <a:t/>
            </a:r>
            <a:endParaRPr/>
          </a:p>
        </p:txBody>
      </p:sp>
      <p:sp>
        <p:nvSpPr>
          <p:cNvPr id="364" name="Google Shape;364;g3d2d0b6cd8c_0_169:notes"/>
          <p:cNvSpPr/>
          <p:nvPr>
            <p:ph idx="2" type="sldImg"/>
          </p:nvPr>
        </p:nvSpPr>
        <p:spPr>
          <a:xfrm>
            <a:off x="3295650" y="500063"/>
            <a:ext cx="3333900" cy="2500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p:cSld name="Start">
    <p:spTree>
      <p:nvGrpSpPr>
        <p:cNvPr id="13" name="Shape 13"/>
        <p:cNvGrpSpPr/>
        <p:nvPr/>
      </p:nvGrpSpPr>
      <p:grpSpPr>
        <a:xfrm>
          <a:off x="0" y="0"/>
          <a:ext cx="0" cy="0"/>
          <a:chOff x="0" y="0"/>
          <a:chExt cx="0" cy="0"/>
        </a:xfrm>
      </p:grpSpPr>
      <p:sp>
        <p:nvSpPr>
          <p:cNvPr id="14" name="Google Shape;14;p2"/>
          <p:cNvSpPr txBox="1"/>
          <p:nvPr>
            <p:ph idx="1" type="body"/>
          </p:nvPr>
        </p:nvSpPr>
        <p:spPr>
          <a:xfrm>
            <a:off x="319088" y="1978720"/>
            <a:ext cx="8508999" cy="1274125"/>
          </a:xfrm>
          <a:prstGeom prst="rect">
            <a:avLst/>
          </a:prstGeom>
          <a:noFill/>
          <a:ln>
            <a:noFill/>
          </a:ln>
        </p:spPr>
        <p:txBody>
          <a:bodyPr anchorCtr="0" anchor="t" bIns="0" lIns="0" spcFirstLastPara="1" rIns="0" wrap="square" tIns="0">
            <a:noAutofit/>
          </a:bodyPr>
          <a:lstStyle>
            <a:lvl1pPr indent="-228600" lvl="0" marL="457200" marR="0" rtl="0" algn="l">
              <a:lnSpc>
                <a:spcPct val="150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 name="Google Shape;15;p2"/>
          <p:cNvSpPr/>
          <p:nvPr/>
        </p:nvSpPr>
        <p:spPr>
          <a:xfrm>
            <a:off x="8347635" y="6408271"/>
            <a:ext cx="575236" cy="35858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6" name="Google Shape;16;p2"/>
          <p:cNvSpPr txBox="1"/>
          <p:nvPr>
            <p:ph idx="12" type="sldNum"/>
          </p:nvPr>
        </p:nvSpPr>
        <p:spPr>
          <a:xfrm>
            <a:off x="6774934" y="6473313"/>
            <a:ext cx="2052000" cy="365125"/>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17" name="Google Shape;17;p2"/>
          <p:cNvSpPr txBox="1"/>
          <p:nvPr>
            <p:ph idx="11" type="ftr"/>
          </p:nvPr>
        </p:nvSpPr>
        <p:spPr>
          <a:xfrm>
            <a:off x="311162" y="6473313"/>
            <a:ext cx="7829538" cy="384687"/>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p:cSld name="Start">
    <p:spTree>
      <p:nvGrpSpPr>
        <p:cNvPr id="23" name="Shape 23"/>
        <p:cNvGrpSpPr/>
        <p:nvPr/>
      </p:nvGrpSpPr>
      <p:grpSpPr>
        <a:xfrm>
          <a:off x="0" y="0"/>
          <a:ext cx="0" cy="0"/>
          <a:chOff x="0" y="0"/>
          <a:chExt cx="0" cy="0"/>
        </a:xfrm>
      </p:grpSpPr>
      <p:sp>
        <p:nvSpPr>
          <p:cNvPr id="24" name="Google Shape;24;p4"/>
          <p:cNvSpPr txBox="1"/>
          <p:nvPr>
            <p:ph idx="1" type="body"/>
          </p:nvPr>
        </p:nvSpPr>
        <p:spPr>
          <a:xfrm>
            <a:off x="319088" y="1978720"/>
            <a:ext cx="8508999" cy="1274125"/>
          </a:xfrm>
          <a:prstGeom prst="rect">
            <a:avLst/>
          </a:prstGeom>
          <a:noFill/>
          <a:ln>
            <a:noFill/>
          </a:ln>
        </p:spPr>
        <p:txBody>
          <a:bodyPr anchorCtr="0" anchor="t" bIns="0" lIns="0" spcFirstLastPara="1" rIns="0" wrap="square" tIns="0">
            <a:noAutofit/>
          </a:bodyPr>
          <a:lstStyle>
            <a:lvl1pPr indent="-228600" lvl="0" marL="457200" marR="0" rtl="0" algn="l">
              <a:lnSpc>
                <a:spcPct val="150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5" name="Google Shape;25;p4"/>
          <p:cNvSpPr/>
          <p:nvPr/>
        </p:nvSpPr>
        <p:spPr>
          <a:xfrm>
            <a:off x="8347635" y="6408271"/>
            <a:ext cx="575236" cy="35858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6" name="Google Shape;26;p4"/>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27" name="Google Shape;27;p4"/>
          <p:cNvSpPr txBox="1"/>
          <p:nvPr>
            <p:ph idx="11" type="ftr"/>
          </p:nvPr>
        </p:nvSpPr>
        <p:spPr>
          <a:xfrm>
            <a:off x="311162" y="6473313"/>
            <a:ext cx="646428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p:cSld name="Inhalt">
    <p:spTree>
      <p:nvGrpSpPr>
        <p:cNvPr id="29" name="Shape 29"/>
        <p:cNvGrpSpPr/>
        <p:nvPr/>
      </p:nvGrpSpPr>
      <p:grpSpPr>
        <a:xfrm>
          <a:off x="0" y="0"/>
          <a:ext cx="0" cy="0"/>
          <a:chOff x="0" y="0"/>
          <a:chExt cx="0" cy="0"/>
        </a:xfrm>
      </p:grpSpPr>
      <p:sp>
        <p:nvSpPr>
          <p:cNvPr id="30" name="Google Shape;30;p5"/>
          <p:cNvSpPr txBox="1"/>
          <p:nvPr>
            <p:ph idx="1" type="body"/>
          </p:nvPr>
        </p:nvSpPr>
        <p:spPr>
          <a:xfrm>
            <a:off x="319090" y="1762188"/>
            <a:ext cx="8508999" cy="4699572"/>
          </a:xfrm>
          <a:prstGeom prst="rect">
            <a:avLst/>
          </a:prstGeom>
          <a:noFill/>
          <a:ln>
            <a:noFill/>
          </a:ln>
        </p:spPr>
        <p:txBody>
          <a:bodyPr anchorCtr="0" anchor="t" bIns="0" lIns="0" spcFirstLastPara="1" rIns="0" wrap="square" tIns="0">
            <a:noAutofit/>
          </a:bodyPr>
          <a:lstStyle>
            <a:lvl1pPr indent="-228600" lvl="0" marL="457200" marR="0" rtl="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14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32" name="Google Shape;32;p5"/>
          <p:cNvSpPr txBox="1"/>
          <p:nvPr>
            <p:ph idx="11" type="ftr"/>
          </p:nvPr>
        </p:nvSpPr>
        <p:spPr>
          <a:xfrm>
            <a:off x="311162" y="6473313"/>
            <a:ext cx="646428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 Text">
  <p:cSld name="Zwei Inhalte + Text">
    <p:spTree>
      <p:nvGrpSpPr>
        <p:cNvPr id="34" name="Shape 34"/>
        <p:cNvGrpSpPr/>
        <p:nvPr/>
      </p:nvGrpSpPr>
      <p:grpSpPr>
        <a:xfrm>
          <a:off x="0" y="0"/>
          <a:ext cx="0" cy="0"/>
          <a:chOff x="0" y="0"/>
          <a:chExt cx="0" cy="0"/>
        </a:xfrm>
      </p:grpSpPr>
      <p:sp>
        <p:nvSpPr>
          <p:cNvPr id="35" name="Google Shape;35;p6"/>
          <p:cNvSpPr txBox="1"/>
          <p:nvPr>
            <p:ph idx="1" type="body"/>
          </p:nvPr>
        </p:nvSpPr>
        <p:spPr>
          <a:xfrm>
            <a:off x="319089" y="1762188"/>
            <a:ext cx="8508999" cy="714951"/>
          </a:xfrm>
          <a:prstGeom prst="rect">
            <a:avLst/>
          </a:prstGeom>
          <a:noFill/>
          <a:ln>
            <a:noFill/>
          </a:ln>
        </p:spPr>
        <p:txBody>
          <a:bodyPr anchorCtr="0" anchor="t" bIns="0" lIns="0" spcFirstLastPara="1" rIns="0" wrap="square" tIns="0">
            <a:noAutofit/>
          </a:bodyPr>
          <a:lstStyle>
            <a:lvl1pPr indent="-228600" lvl="0" marL="457200" marR="0" rtl="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6" name="Google Shape;36;p6"/>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37" name="Google Shape;37;p6"/>
          <p:cNvSpPr txBox="1"/>
          <p:nvPr>
            <p:ph idx="11" type="ftr"/>
          </p:nvPr>
        </p:nvSpPr>
        <p:spPr>
          <a:xfrm>
            <a:off x="311162" y="6473313"/>
            <a:ext cx="646428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2" type="body"/>
          </p:nvPr>
        </p:nvSpPr>
        <p:spPr>
          <a:xfrm>
            <a:off x="316992" y="2484000"/>
            <a:ext cx="4242816" cy="3974655"/>
          </a:xfrm>
          <a:prstGeom prst="rect">
            <a:avLst/>
          </a:prstGeom>
          <a:noFill/>
          <a:ln>
            <a:noFill/>
          </a:ln>
        </p:spPr>
        <p:txBody>
          <a:bodyPr anchorCtr="0" anchor="t" bIns="45700" lIns="0" spcFirstLastPara="1" rIns="0" wrap="square" tIns="45700">
            <a:noAutofit/>
          </a:bodyPr>
          <a:lstStyle>
            <a:lvl1pPr indent="-228600" lvl="0" marL="457200" marR="0" rtl="0" algn="l">
              <a:lnSpc>
                <a:spcPct val="100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9" name="Google Shape;39;p6"/>
          <p:cNvSpPr/>
          <p:nvPr>
            <p:ph idx="3" type="pic"/>
          </p:nvPr>
        </p:nvSpPr>
        <p:spPr>
          <a:xfrm>
            <a:off x="4584192" y="2484120"/>
            <a:ext cx="4244400" cy="3974400"/>
          </a:xfrm>
          <a:prstGeom prst="rect">
            <a:avLst/>
          </a:prstGeom>
          <a:noFill/>
          <a:ln>
            <a:noFill/>
          </a:ln>
        </p:spPr>
      </p:sp>
      <p:sp>
        <p:nvSpPr>
          <p:cNvPr id="40" name="Google Shape;40;p6"/>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p:cSld name="zwei Inhalte">
    <p:spTree>
      <p:nvGrpSpPr>
        <p:cNvPr id="41" name="Shape 41"/>
        <p:cNvGrpSpPr/>
        <p:nvPr/>
      </p:nvGrpSpPr>
      <p:grpSpPr>
        <a:xfrm>
          <a:off x="0" y="0"/>
          <a:ext cx="0" cy="0"/>
          <a:chOff x="0" y="0"/>
          <a:chExt cx="0" cy="0"/>
        </a:xfrm>
      </p:grpSpPr>
      <p:sp>
        <p:nvSpPr>
          <p:cNvPr id="42" name="Google Shape;42;p7"/>
          <p:cNvSpPr txBox="1"/>
          <p:nvPr>
            <p:ph idx="1" type="body"/>
          </p:nvPr>
        </p:nvSpPr>
        <p:spPr>
          <a:xfrm>
            <a:off x="319091" y="1762188"/>
            <a:ext cx="4180910" cy="4687380"/>
          </a:xfrm>
          <a:prstGeom prst="rect">
            <a:avLst/>
          </a:prstGeom>
          <a:noFill/>
          <a:ln>
            <a:noFill/>
          </a:ln>
        </p:spPr>
        <p:txBody>
          <a:bodyPr anchorCtr="0" anchor="t" bIns="0" lIns="0" spcFirstLastPara="1" rIns="0" wrap="square" tIns="0">
            <a:noAutofit/>
          </a:bodyPr>
          <a:lstStyle>
            <a:lvl1pPr indent="-228600" lvl="0" marL="457200" marR="0" rtl="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14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3" name="Google Shape;43;p7"/>
          <p:cNvSpPr txBox="1"/>
          <p:nvPr>
            <p:ph idx="2" type="body"/>
          </p:nvPr>
        </p:nvSpPr>
        <p:spPr>
          <a:xfrm>
            <a:off x="4647179" y="1762188"/>
            <a:ext cx="4180910" cy="4687380"/>
          </a:xfrm>
          <a:prstGeom prst="rect">
            <a:avLst/>
          </a:prstGeom>
          <a:noFill/>
          <a:ln>
            <a:noFill/>
          </a:ln>
        </p:spPr>
        <p:txBody>
          <a:bodyPr anchorCtr="0" anchor="t" bIns="0" lIns="0" spcFirstLastPara="1" rIns="0" wrap="square" tIns="0">
            <a:noAutofit/>
          </a:bodyPr>
          <a:lstStyle>
            <a:lvl1pPr indent="-228600" lvl="0" marL="457200" marR="0" rtl="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14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4" name="Google Shape;44;p7"/>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45" name="Google Shape;45;p7"/>
          <p:cNvSpPr txBox="1"/>
          <p:nvPr>
            <p:ph idx="11" type="ftr"/>
          </p:nvPr>
        </p:nvSpPr>
        <p:spPr>
          <a:xfrm>
            <a:off x="311162" y="6473313"/>
            <a:ext cx="646428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 Text">
  <p:cSld name="Inhalt + Text">
    <p:spTree>
      <p:nvGrpSpPr>
        <p:cNvPr id="47" name="Shape 47"/>
        <p:cNvGrpSpPr/>
        <p:nvPr/>
      </p:nvGrpSpPr>
      <p:grpSpPr>
        <a:xfrm>
          <a:off x="0" y="0"/>
          <a:ext cx="0" cy="0"/>
          <a:chOff x="0" y="0"/>
          <a:chExt cx="0" cy="0"/>
        </a:xfrm>
      </p:grpSpPr>
      <p:sp>
        <p:nvSpPr>
          <p:cNvPr id="48" name="Google Shape;48;p8"/>
          <p:cNvSpPr txBox="1"/>
          <p:nvPr>
            <p:ph idx="1" type="body"/>
          </p:nvPr>
        </p:nvSpPr>
        <p:spPr>
          <a:xfrm>
            <a:off x="319090" y="2499360"/>
            <a:ext cx="8508999" cy="3962400"/>
          </a:xfrm>
          <a:prstGeom prst="rect">
            <a:avLst/>
          </a:prstGeom>
          <a:solidFill>
            <a:schemeClr val="lt1"/>
          </a:solidFill>
          <a:ln>
            <a:noFill/>
          </a:ln>
        </p:spPr>
        <p:txBody>
          <a:bodyPr anchorCtr="0" anchor="t" bIns="0" lIns="0" spcFirstLastPara="1" rIns="0" wrap="square" tIns="0">
            <a:noAutofit/>
          </a:bodyPr>
          <a:lstStyle>
            <a:lvl1pPr indent="-228600" lvl="0" marL="457200" marR="0" rtl="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14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9" name="Google Shape;49;p8"/>
          <p:cNvSpPr txBox="1"/>
          <p:nvPr>
            <p:ph idx="12" type="sldNum"/>
          </p:nvPr>
        </p:nvSpPr>
        <p:spPr>
          <a:xfrm>
            <a:off x="6774934" y="6473313"/>
            <a:ext cx="2052074" cy="365125"/>
          </a:xfrm>
          <a:prstGeom prst="rect">
            <a:avLst/>
          </a:prstGeom>
          <a:solidFill>
            <a:schemeClr val="lt1"/>
          </a:solid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50" name="Google Shape;50;p8"/>
          <p:cNvSpPr txBox="1"/>
          <p:nvPr>
            <p:ph idx="11" type="ftr"/>
          </p:nvPr>
        </p:nvSpPr>
        <p:spPr>
          <a:xfrm>
            <a:off x="311162" y="6473313"/>
            <a:ext cx="6464280" cy="365125"/>
          </a:xfrm>
          <a:prstGeom prst="rect">
            <a:avLst/>
          </a:prstGeom>
          <a:solidFill>
            <a:schemeClr val="lt1"/>
          </a:solid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2" type="body"/>
          </p:nvPr>
        </p:nvSpPr>
        <p:spPr>
          <a:xfrm>
            <a:off x="319089" y="1762188"/>
            <a:ext cx="8508999" cy="714951"/>
          </a:xfrm>
          <a:prstGeom prst="rect">
            <a:avLst/>
          </a:prstGeom>
          <a:solidFill>
            <a:schemeClr val="lt1"/>
          </a:solidFill>
          <a:ln>
            <a:noFill/>
          </a:ln>
        </p:spPr>
        <p:txBody>
          <a:bodyPr anchorCtr="0" anchor="t" bIns="0" lIns="0" spcFirstLastPara="1" rIns="0" wrap="square" tIns="0">
            <a:noAutofit/>
          </a:bodyPr>
          <a:lstStyle>
            <a:lvl1pPr indent="-228600" lvl="0" marL="457200" marR="0" rtl="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2" name="Google Shape;52;p8"/>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ße Bilder">
  <p:cSld name="große Bilder">
    <p:spTree>
      <p:nvGrpSpPr>
        <p:cNvPr id="53" name="Shape 53"/>
        <p:cNvGrpSpPr/>
        <p:nvPr/>
      </p:nvGrpSpPr>
      <p:grpSpPr>
        <a:xfrm>
          <a:off x="0" y="0"/>
          <a:ext cx="0" cy="0"/>
          <a:chOff x="0" y="0"/>
          <a:chExt cx="0" cy="0"/>
        </a:xfrm>
      </p:grpSpPr>
      <p:sp>
        <p:nvSpPr>
          <p:cNvPr id="54" name="Google Shape;54;p9"/>
          <p:cNvSpPr txBox="1"/>
          <p:nvPr>
            <p:ph idx="1" type="body"/>
          </p:nvPr>
        </p:nvSpPr>
        <p:spPr>
          <a:xfrm>
            <a:off x="319089" y="1762188"/>
            <a:ext cx="8508999" cy="714951"/>
          </a:xfrm>
          <a:prstGeom prst="rect">
            <a:avLst/>
          </a:prstGeom>
          <a:noFill/>
          <a:ln>
            <a:noFill/>
          </a:ln>
        </p:spPr>
        <p:txBody>
          <a:bodyPr anchorCtr="0" anchor="t" bIns="0" lIns="0" spcFirstLastPara="1" rIns="0" wrap="square" tIns="0">
            <a:noAutofit/>
          </a:bodyPr>
          <a:lstStyle>
            <a:lvl1pPr indent="-228600" lvl="0" marL="457200" marR="0" rtl="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5" name="Google Shape;55;p9"/>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56" name="Google Shape;56;p9"/>
          <p:cNvSpPr txBox="1"/>
          <p:nvPr>
            <p:ph idx="11" type="ftr"/>
          </p:nvPr>
        </p:nvSpPr>
        <p:spPr>
          <a:xfrm>
            <a:off x="311162" y="6473313"/>
            <a:ext cx="646428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p:nvPr>
            <p:ph idx="2" type="pic"/>
          </p:nvPr>
        </p:nvSpPr>
        <p:spPr>
          <a:xfrm>
            <a:off x="0" y="2476500"/>
            <a:ext cx="9144000" cy="4381500"/>
          </a:xfrm>
          <a:prstGeom prst="rect">
            <a:avLst/>
          </a:prstGeom>
          <a:noFill/>
          <a:ln>
            <a:noFill/>
          </a:ln>
        </p:spPr>
      </p:sp>
      <p:sp>
        <p:nvSpPr>
          <p:cNvPr id="58" name="Google Shape;58;p9"/>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er formatfüllend">
  <p:cSld name="Bilder formatfüllend">
    <p:spTree>
      <p:nvGrpSpPr>
        <p:cNvPr id="59" name="Shape 59"/>
        <p:cNvGrpSpPr/>
        <p:nvPr/>
      </p:nvGrpSpPr>
      <p:grpSpPr>
        <a:xfrm>
          <a:off x="0" y="0"/>
          <a:ext cx="0" cy="0"/>
          <a:chOff x="0" y="0"/>
          <a:chExt cx="0" cy="0"/>
        </a:xfrm>
      </p:grpSpPr>
      <p:sp>
        <p:nvSpPr>
          <p:cNvPr id="60" name="Google Shape;60;p10"/>
          <p:cNvSpPr/>
          <p:nvPr>
            <p:ph idx="2" type="pic"/>
          </p:nvPr>
        </p:nvSpPr>
        <p:spPr>
          <a:xfrm>
            <a:off x="0" y="1691640"/>
            <a:ext cx="9144000" cy="5166360"/>
          </a:xfrm>
          <a:prstGeom prst="rect">
            <a:avLst/>
          </a:prstGeom>
          <a:noFill/>
          <a:ln>
            <a:noFill/>
          </a:ln>
        </p:spPr>
      </p:sp>
      <p:sp>
        <p:nvSpPr>
          <p:cNvPr id="61" name="Google Shape;61;p10"/>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62" name="Google Shape;62;p10"/>
          <p:cNvSpPr txBox="1"/>
          <p:nvPr>
            <p:ph idx="11" type="ftr"/>
          </p:nvPr>
        </p:nvSpPr>
        <p:spPr>
          <a:xfrm>
            <a:off x="311162" y="6473313"/>
            <a:ext cx="646428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 Text (Hintergrund)">
  <p:cSld name="Zwei Inhalte + Text (Hintergrund)">
    <p:spTree>
      <p:nvGrpSpPr>
        <p:cNvPr id="64" name="Shape 64"/>
        <p:cNvGrpSpPr/>
        <p:nvPr/>
      </p:nvGrpSpPr>
      <p:grpSpPr>
        <a:xfrm>
          <a:off x="0" y="0"/>
          <a:ext cx="0" cy="0"/>
          <a:chOff x="0" y="0"/>
          <a:chExt cx="0" cy="0"/>
        </a:xfrm>
      </p:grpSpPr>
      <p:sp>
        <p:nvSpPr>
          <p:cNvPr id="65" name="Google Shape;65;p11"/>
          <p:cNvSpPr/>
          <p:nvPr/>
        </p:nvSpPr>
        <p:spPr>
          <a:xfrm>
            <a:off x="0" y="2477139"/>
            <a:ext cx="9144000" cy="4380861"/>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
        <p:nvSpPr>
          <p:cNvPr id="66" name="Google Shape;66;p11"/>
          <p:cNvSpPr txBox="1"/>
          <p:nvPr>
            <p:ph idx="1" type="body"/>
          </p:nvPr>
        </p:nvSpPr>
        <p:spPr>
          <a:xfrm>
            <a:off x="319089" y="1762188"/>
            <a:ext cx="8508999" cy="714951"/>
          </a:xfrm>
          <a:prstGeom prst="rect">
            <a:avLst/>
          </a:prstGeom>
          <a:noFill/>
          <a:ln>
            <a:noFill/>
          </a:ln>
        </p:spPr>
        <p:txBody>
          <a:bodyPr anchorCtr="0" anchor="t" bIns="0" lIns="0" spcFirstLastPara="1" rIns="0" wrap="square" tIns="0">
            <a:noAutofit/>
          </a:bodyPr>
          <a:lstStyle>
            <a:lvl1pPr indent="-228600" lvl="0" marL="457200" marR="0" rtl="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7" name="Google Shape;67;p11"/>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de-DE"/>
              <a:t>‹#›</a:t>
            </a:fld>
            <a:endParaRPr/>
          </a:p>
        </p:txBody>
      </p:sp>
      <p:sp>
        <p:nvSpPr>
          <p:cNvPr id="68" name="Google Shape;68;p11"/>
          <p:cNvSpPr txBox="1"/>
          <p:nvPr>
            <p:ph idx="11" type="ftr"/>
          </p:nvPr>
        </p:nvSpPr>
        <p:spPr>
          <a:xfrm>
            <a:off x="311162" y="6473313"/>
            <a:ext cx="646428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
          <p:cNvSpPr txBox="1"/>
          <p:nvPr>
            <p:ph idx="2" type="body"/>
          </p:nvPr>
        </p:nvSpPr>
        <p:spPr>
          <a:xfrm>
            <a:off x="316992" y="2484000"/>
            <a:ext cx="4242816" cy="3974655"/>
          </a:xfrm>
          <a:prstGeom prst="rect">
            <a:avLst/>
          </a:prstGeom>
          <a:noFill/>
          <a:ln>
            <a:noFill/>
          </a:ln>
        </p:spPr>
        <p:txBody>
          <a:bodyPr anchorCtr="0" anchor="t" bIns="45700" lIns="0" spcFirstLastPara="1" rIns="0" wrap="square" tIns="45700">
            <a:noAutofit/>
          </a:bodyPr>
          <a:lstStyle>
            <a:lvl1pPr indent="-228600" lvl="0" marL="457200" marR="0" rtl="0" algn="l">
              <a:lnSpc>
                <a:spcPct val="100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rtl="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0" name="Google Shape;70;p11"/>
          <p:cNvSpPr/>
          <p:nvPr>
            <p:ph idx="3" type="pic"/>
          </p:nvPr>
        </p:nvSpPr>
        <p:spPr>
          <a:xfrm>
            <a:off x="4584192" y="2484120"/>
            <a:ext cx="4244400" cy="3974400"/>
          </a:xfrm>
          <a:prstGeom prst="rect">
            <a:avLst/>
          </a:prstGeom>
          <a:noFill/>
          <a:ln>
            <a:noFill/>
          </a:ln>
        </p:spPr>
      </p:sp>
      <p:sp>
        <p:nvSpPr>
          <p:cNvPr id="71" name="Google Shape;71;p11"/>
          <p:cNvSpPr txBox="1"/>
          <p:nvPr>
            <p:ph type="title"/>
          </p:nvPr>
        </p:nvSpPr>
        <p:spPr>
          <a:xfrm>
            <a:off x="319090" y="994334"/>
            <a:ext cx="8508999" cy="410369"/>
          </a:xfrm>
          <a:prstGeom prst="rect">
            <a:avLst/>
          </a:prstGeom>
          <a:noFill/>
          <a:ln>
            <a:noFill/>
          </a:ln>
        </p:spPr>
        <p:txBody>
          <a:bodyPr anchorCtr="0" anchor="t" bIns="0" lIns="0" spcFirstLastPara="1" rIns="0" wrap="square" tIns="0">
            <a:spAutoFit/>
          </a:bodyPr>
          <a:lstStyle>
            <a:lvl1pPr lvl="0" marR="0" rtl="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2" name="Shape 72"/>
        <p:cNvGrpSpPr/>
        <p:nvPr/>
      </p:nvGrpSpPr>
      <p:grpSpPr>
        <a:xfrm>
          <a:off x="0" y="0"/>
          <a:ext cx="0" cy="0"/>
          <a:chOff x="0" y="0"/>
          <a:chExt cx="0" cy="0"/>
        </a:xfrm>
      </p:grpSpPr>
      <p:sp>
        <p:nvSpPr>
          <p:cNvPr id="73" name="Google Shape;73;p12"/>
          <p:cNvSpPr txBox="1"/>
          <p:nvPr>
            <p:ph type="title"/>
          </p:nvPr>
        </p:nvSpPr>
        <p:spPr>
          <a:xfrm>
            <a:off x="311700" y="593367"/>
            <a:ext cx="8520600" cy="763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74" name="Google Shape;74;p12"/>
          <p:cNvSpPr txBox="1"/>
          <p:nvPr>
            <p:ph idx="1" type="body"/>
          </p:nvPr>
        </p:nvSpPr>
        <p:spPr>
          <a:xfrm>
            <a:off x="311700" y="1536633"/>
            <a:ext cx="8520600" cy="45552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 name="Google Shape;75;p12"/>
          <p:cNvSpPr txBox="1"/>
          <p:nvPr>
            <p:ph idx="12" type="sldNum"/>
          </p:nvPr>
        </p:nvSpPr>
        <p:spPr>
          <a:xfrm>
            <a:off x="8472458" y="6217622"/>
            <a:ext cx="548700" cy="524700"/>
          </a:xfrm>
          <a:prstGeom prst="rect">
            <a:avLst/>
          </a:prstGeom>
        </p:spPr>
        <p:txBody>
          <a:bodyPr anchorCtr="0" anchor="ctr" bIns="45700" lIns="0" spcFirstLastPara="1" rIns="0"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p:cSld name="Start">
    <p:spTree>
      <p:nvGrpSpPr>
        <p:cNvPr id="82" name="Shape 82"/>
        <p:cNvGrpSpPr/>
        <p:nvPr/>
      </p:nvGrpSpPr>
      <p:grpSpPr>
        <a:xfrm>
          <a:off x="0" y="0"/>
          <a:ext cx="0" cy="0"/>
          <a:chOff x="0" y="0"/>
          <a:chExt cx="0" cy="0"/>
        </a:xfrm>
      </p:grpSpPr>
      <p:sp>
        <p:nvSpPr>
          <p:cNvPr id="83" name="Google Shape;83;p14"/>
          <p:cNvSpPr txBox="1"/>
          <p:nvPr>
            <p:ph type="title"/>
          </p:nvPr>
        </p:nvSpPr>
        <p:spPr>
          <a:xfrm>
            <a:off x="319090" y="994334"/>
            <a:ext cx="8508900" cy="501600"/>
          </a:xfrm>
          <a:prstGeom prst="rect">
            <a:avLst/>
          </a:prstGeom>
          <a:noFill/>
          <a:ln>
            <a:noFill/>
          </a:ln>
        </p:spPr>
        <p:txBody>
          <a:bodyPr anchorCtr="0" anchor="t" bIns="0" lIns="0" spcFirstLastPara="1" rIns="0" wrap="square" tIns="0">
            <a:noAutofit/>
          </a:bodyPr>
          <a:lstStyle>
            <a:lvl1pPr lvl="0" marR="0" algn="l">
              <a:lnSpc>
                <a:spcPct val="106666"/>
              </a:lnSpc>
              <a:spcBef>
                <a:spcPts val="0"/>
              </a:spcBef>
              <a:spcAft>
                <a:spcPts val="0"/>
              </a:spcAft>
              <a:buSzPts val="1400"/>
              <a:buNone/>
              <a:defRPr b="0" i="0" sz="3000" u="none" cap="none" strike="noStrike">
                <a:solidFill>
                  <a:schemeClr val="lt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
        <p:nvSpPr>
          <p:cNvPr id="84" name="Google Shape;84;p14"/>
          <p:cNvSpPr txBox="1"/>
          <p:nvPr>
            <p:ph idx="1" type="body"/>
          </p:nvPr>
        </p:nvSpPr>
        <p:spPr>
          <a:xfrm>
            <a:off x="319088" y="1978720"/>
            <a:ext cx="8508900" cy="1274100"/>
          </a:xfrm>
          <a:prstGeom prst="rect">
            <a:avLst/>
          </a:prstGeom>
          <a:noFill/>
          <a:ln>
            <a:noFill/>
          </a:ln>
        </p:spPr>
        <p:txBody>
          <a:bodyPr anchorCtr="0" anchor="t" bIns="0" lIns="0" spcFirstLastPara="1" rIns="0" wrap="square" tIns="0">
            <a:noAutofit/>
          </a:bodyPr>
          <a:lstStyle>
            <a:lvl1pPr indent="-228600" lvl="0" marL="457200" marR="0" algn="l">
              <a:lnSpc>
                <a:spcPct val="150000"/>
              </a:lnSpc>
              <a:spcBef>
                <a:spcPts val="0"/>
              </a:spcBef>
              <a:spcAft>
                <a:spcPts val="0"/>
              </a:spcAft>
              <a:buSzPts val="1400"/>
              <a:buNone/>
              <a:defRPr b="0" i="0" sz="1600" u="none" cap="none" strike="noStrike">
                <a:solidFill>
                  <a:schemeClr val="lt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5" name="Google Shape;85;p14"/>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b="0" i="0" sz="1200" u="none" cap="none" strike="noStrike">
                <a:solidFill>
                  <a:schemeClr val="lt1"/>
                </a:solidFill>
                <a:latin typeface="Arial"/>
                <a:ea typeface="Arial"/>
                <a:cs typeface="Arial"/>
                <a:sym typeface="Arial"/>
              </a:defRPr>
            </a:lvl1pPr>
            <a:lvl2pPr indent="0" lvl="1" marL="0" algn="r">
              <a:spcBef>
                <a:spcPts val="0"/>
              </a:spcBef>
              <a:spcAft>
                <a:spcPts val="0"/>
              </a:spcAft>
              <a:buNone/>
              <a:defRPr b="0" i="0" sz="1200" u="none" cap="none" strike="noStrike">
                <a:solidFill>
                  <a:schemeClr val="lt1"/>
                </a:solidFill>
                <a:latin typeface="Arial"/>
                <a:ea typeface="Arial"/>
                <a:cs typeface="Arial"/>
                <a:sym typeface="Arial"/>
              </a:defRPr>
            </a:lvl2pPr>
            <a:lvl3pPr indent="0" lvl="2" marL="0" algn="r">
              <a:spcBef>
                <a:spcPts val="0"/>
              </a:spcBef>
              <a:spcAft>
                <a:spcPts val="0"/>
              </a:spcAft>
              <a:buNone/>
              <a:defRPr b="0" i="0" sz="1200" u="none" cap="none" strike="noStrike">
                <a:solidFill>
                  <a:schemeClr val="lt1"/>
                </a:solidFill>
                <a:latin typeface="Arial"/>
                <a:ea typeface="Arial"/>
                <a:cs typeface="Arial"/>
                <a:sym typeface="Arial"/>
              </a:defRPr>
            </a:lvl3pPr>
            <a:lvl4pPr indent="0" lvl="3" marL="0" algn="r">
              <a:spcBef>
                <a:spcPts val="0"/>
              </a:spcBef>
              <a:spcAft>
                <a:spcPts val="0"/>
              </a:spcAft>
              <a:buNone/>
              <a:defRPr b="0" i="0" sz="1200" u="none" cap="none" strike="noStrike">
                <a:solidFill>
                  <a:schemeClr val="lt1"/>
                </a:solidFill>
                <a:latin typeface="Arial"/>
                <a:ea typeface="Arial"/>
                <a:cs typeface="Arial"/>
                <a:sym typeface="Arial"/>
              </a:defRPr>
            </a:lvl4pPr>
            <a:lvl5pPr indent="0" lvl="4" marL="0" algn="r">
              <a:spcBef>
                <a:spcPts val="0"/>
              </a:spcBef>
              <a:spcAft>
                <a:spcPts val="0"/>
              </a:spcAft>
              <a:buNone/>
              <a:defRPr b="0" i="0" sz="1200" u="none" cap="none" strike="noStrike">
                <a:solidFill>
                  <a:schemeClr val="lt1"/>
                </a:solidFill>
                <a:latin typeface="Arial"/>
                <a:ea typeface="Arial"/>
                <a:cs typeface="Arial"/>
                <a:sym typeface="Arial"/>
              </a:defRPr>
            </a:lvl5pPr>
            <a:lvl6pPr indent="0" lvl="5" marL="0" algn="r">
              <a:spcBef>
                <a:spcPts val="0"/>
              </a:spcBef>
              <a:spcAft>
                <a:spcPts val="0"/>
              </a:spcAft>
              <a:buNone/>
              <a:defRPr b="0" i="0" sz="1200" u="none" cap="none" strike="noStrike">
                <a:solidFill>
                  <a:schemeClr val="lt1"/>
                </a:solidFill>
                <a:latin typeface="Arial"/>
                <a:ea typeface="Arial"/>
                <a:cs typeface="Arial"/>
                <a:sym typeface="Arial"/>
              </a:defRPr>
            </a:lvl6pPr>
            <a:lvl7pPr indent="0" lvl="6" marL="0" algn="r">
              <a:spcBef>
                <a:spcPts val="0"/>
              </a:spcBef>
              <a:spcAft>
                <a:spcPts val="0"/>
              </a:spcAft>
              <a:buNone/>
              <a:defRPr b="0" i="0" sz="1200" u="none" cap="none" strike="noStrike">
                <a:solidFill>
                  <a:schemeClr val="lt1"/>
                </a:solidFill>
                <a:latin typeface="Arial"/>
                <a:ea typeface="Arial"/>
                <a:cs typeface="Arial"/>
                <a:sym typeface="Arial"/>
              </a:defRPr>
            </a:lvl7pPr>
            <a:lvl8pPr indent="0" lvl="7" marL="0" algn="r">
              <a:spcBef>
                <a:spcPts val="0"/>
              </a:spcBef>
              <a:spcAft>
                <a:spcPts val="0"/>
              </a:spcAft>
              <a:buNone/>
              <a:defRPr b="0" i="0" sz="1200" u="none" cap="none" strike="noStrike">
                <a:solidFill>
                  <a:schemeClr val="lt1"/>
                </a:solidFill>
                <a:latin typeface="Arial"/>
                <a:ea typeface="Arial"/>
                <a:cs typeface="Arial"/>
                <a:sym typeface="Arial"/>
              </a:defRPr>
            </a:lvl8pPr>
            <a:lvl9pPr indent="0" lvl="8" marL="0" algn="r">
              <a:spcBef>
                <a:spcPts val="0"/>
              </a:spcBef>
              <a:spcAft>
                <a:spcPts val="0"/>
              </a:spcAft>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86" name="Google Shape;86;p14"/>
          <p:cNvSpPr txBox="1"/>
          <p:nvPr>
            <p:ph idx="11" type="ftr"/>
          </p:nvPr>
        </p:nvSpPr>
        <p:spPr>
          <a:xfrm>
            <a:off x="311162" y="6473313"/>
            <a:ext cx="6464400" cy="3651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20150416 tum logo blau png final.png" id="10" name="Google Shape;10;p1"/>
          <p:cNvPicPr preferRelativeResize="0"/>
          <p:nvPr/>
        </p:nvPicPr>
        <p:blipFill rotWithShape="1">
          <a:blip r:embed="rId1">
            <a:alphaModFix/>
          </a:blip>
          <a:srcRect b="0" l="0" r="0" t="0"/>
          <a:stretch/>
        </p:blipFill>
        <p:spPr>
          <a:xfrm>
            <a:off x="8218411" y="324685"/>
            <a:ext cx="608352" cy="320400"/>
          </a:xfrm>
          <a:prstGeom prst="rect">
            <a:avLst/>
          </a:prstGeom>
          <a:noFill/>
          <a:ln>
            <a:noFill/>
          </a:ln>
        </p:spPr>
      </p:pic>
      <p:sp>
        <p:nvSpPr>
          <p:cNvPr id="11" name="Google Shape;11;p1"/>
          <p:cNvSpPr txBox="1"/>
          <p:nvPr>
            <p:ph idx="11" type="ftr"/>
          </p:nvPr>
        </p:nvSpPr>
        <p:spPr>
          <a:xfrm>
            <a:off x="311162" y="6473313"/>
            <a:ext cx="7829538" cy="384687"/>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6774934" y="6473313"/>
            <a:ext cx="2052000" cy="365125"/>
          </a:xfrm>
          <a:prstGeom prst="rect">
            <a:avLst/>
          </a:prstGeom>
          <a:noFill/>
          <a:ln>
            <a:noFill/>
          </a:ln>
        </p:spPr>
        <p:txBody>
          <a:bodyPr anchorCtr="0" anchor="ctr" bIns="45700" lIns="0" spcFirstLastPara="1" rIns="0" wrap="square" tIns="45700">
            <a:noAutofit/>
          </a:bodyPr>
          <a:lstStyle>
            <a:lvl1pPr indent="0" lvl="0" marL="0" marR="0" rtl="0" algn="r">
              <a:spcBef>
                <a:spcPts val="0"/>
              </a:spcBef>
              <a:spcAft>
                <a:spcPts val="0"/>
              </a:spcAft>
              <a:buNone/>
              <a:defRPr b="0" i="0" sz="12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2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2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2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2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2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2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2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 accent1="accent1" accent2="accent2" accent3="accent3" accent4="accent4" accent5="accent5" accent6="accent6" bg1="lt1" bg2="dk2" tx1="dk1" tx2="lt2" folHlink="folHlink" hlink="hlink"/>
  <p:sldLayoutIdLst>
    <p:sldLayoutId id="214748364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pic>
        <p:nvPicPr>
          <p:cNvPr descr="20150416 tum logo blau png final.png" id="20" name="Google Shape;20;p3"/>
          <p:cNvPicPr preferRelativeResize="0"/>
          <p:nvPr/>
        </p:nvPicPr>
        <p:blipFill rotWithShape="1">
          <a:blip r:embed="rId1">
            <a:alphaModFix/>
          </a:blip>
          <a:srcRect b="0" l="0" r="0" t="0"/>
          <a:stretch/>
        </p:blipFill>
        <p:spPr>
          <a:xfrm>
            <a:off x="8218411" y="324685"/>
            <a:ext cx="608352" cy="320400"/>
          </a:xfrm>
          <a:prstGeom prst="rect">
            <a:avLst/>
          </a:prstGeom>
          <a:noFill/>
          <a:ln>
            <a:noFill/>
          </a:ln>
        </p:spPr>
      </p:pic>
      <p:sp>
        <p:nvSpPr>
          <p:cNvPr id="21" name="Google Shape;21;p3"/>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lvl1pPr indent="0" lvl="0" marL="0" marR="0" rtl="0" algn="r">
              <a:spcBef>
                <a:spcPts val="0"/>
              </a:spcBef>
              <a:spcAft>
                <a:spcPts val="0"/>
              </a:spcAft>
              <a:buNone/>
              <a:defRPr b="0" i="0" sz="12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2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2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2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2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2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2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2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22" name="Google Shape;22;p3"/>
          <p:cNvSpPr txBox="1"/>
          <p:nvPr>
            <p:ph idx="11" type="ftr"/>
          </p:nvPr>
        </p:nvSpPr>
        <p:spPr>
          <a:xfrm>
            <a:off x="311162" y="6473313"/>
            <a:ext cx="6464280"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sp>
        <p:nvSpPr>
          <p:cNvPr id="77" name="Google Shape;77;p13"/>
          <p:cNvSpPr txBox="1"/>
          <p:nvPr/>
        </p:nvSpPr>
        <p:spPr>
          <a:xfrm>
            <a:off x="7713330" y="6563283"/>
            <a:ext cx="1115400" cy="184800"/>
          </a:xfrm>
          <a:prstGeom prst="rect">
            <a:avLst/>
          </a:prstGeom>
          <a:noFill/>
          <a:ln>
            <a:noFill/>
          </a:ln>
        </p:spPr>
        <p:txBody>
          <a:bodyPr anchorCtr="0" anchor="b" bIns="0" lIns="0" spcFirstLastPara="1" rIns="0" wrap="square" tIns="0">
            <a:spAutoFit/>
          </a:bodyPr>
          <a:lstStyle/>
          <a:p>
            <a:pPr indent="0" lvl="0" marL="0" marR="0" rtl="0" algn="r">
              <a:lnSpc>
                <a:spcPct val="114000"/>
              </a:lnSpc>
              <a:spcBef>
                <a:spcPts val="0"/>
              </a:spcBef>
              <a:spcAft>
                <a:spcPts val="0"/>
              </a:spcAft>
              <a:buNone/>
            </a:pPr>
            <a:fld id="{00000000-1234-1234-1234-123412341234}" type="slidenum">
              <a:rPr b="0" i="0" lang="de-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pic>
        <p:nvPicPr>
          <p:cNvPr descr="Fahnen_HG.jpg" id="78" name="Google Shape;78;p13"/>
          <p:cNvPicPr preferRelativeResize="0"/>
          <p:nvPr/>
        </p:nvPicPr>
        <p:blipFill rotWithShape="1">
          <a:blip r:embed="rId1">
            <a:alphaModFix/>
          </a:blip>
          <a:srcRect b="0" l="0" r="0" t="0"/>
          <a:stretch/>
        </p:blipFill>
        <p:spPr>
          <a:xfrm>
            <a:off x="-42532" y="0"/>
            <a:ext cx="9185030" cy="6858000"/>
          </a:xfrm>
          <a:prstGeom prst="rect">
            <a:avLst/>
          </a:prstGeom>
          <a:noFill/>
          <a:ln>
            <a:noFill/>
          </a:ln>
        </p:spPr>
      </p:pic>
      <p:pic>
        <p:nvPicPr>
          <p:cNvPr descr="20150416 tum logo blau png final.png" id="79" name="Google Shape;79;p13"/>
          <p:cNvPicPr preferRelativeResize="0"/>
          <p:nvPr/>
        </p:nvPicPr>
        <p:blipFill rotWithShape="1">
          <a:blip r:embed="rId2">
            <a:alphaModFix/>
          </a:blip>
          <a:srcRect b="0" l="0" r="0" t="0"/>
          <a:stretch/>
        </p:blipFill>
        <p:spPr>
          <a:xfrm>
            <a:off x="8222627" y="324650"/>
            <a:ext cx="599721" cy="320401"/>
          </a:xfrm>
          <a:prstGeom prst="rect">
            <a:avLst/>
          </a:prstGeom>
          <a:noFill/>
          <a:ln>
            <a:noFill/>
          </a:ln>
        </p:spPr>
      </p:pic>
      <p:sp>
        <p:nvSpPr>
          <p:cNvPr id="80" name="Google Shape;80;p13"/>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lvl1pPr indent="0" lvl="0" marL="0" marR="0" algn="r">
              <a:spcBef>
                <a:spcPts val="0"/>
              </a:spcBef>
              <a:spcAft>
                <a:spcPts val="0"/>
              </a:spcAft>
              <a:buNone/>
              <a:defRPr b="0" i="0" sz="12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2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2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2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2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2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2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2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
        <p:nvSpPr>
          <p:cNvPr id="81" name="Google Shape;81;p13"/>
          <p:cNvSpPr txBox="1"/>
          <p:nvPr>
            <p:ph idx="11" type="ftr"/>
          </p:nvPr>
        </p:nvSpPr>
        <p:spPr>
          <a:xfrm>
            <a:off x="311162" y="6473313"/>
            <a:ext cx="6464400" cy="365100"/>
          </a:xfrm>
          <a:prstGeom prst="rect">
            <a:avLst/>
          </a:prstGeom>
          <a:noFill/>
          <a:ln>
            <a:noFill/>
          </a:ln>
        </p:spPr>
        <p:txBody>
          <a:bodyPr anchorCtr="0" anchor="ctr" bIns="45700" lIns="0" spcFirstLastPara="1" rIns="0" wrap="square" tIns="45700">
            <a:noAutofit/>
          </a:bodyPr>
          <a:lstStyle>
            <a:lvl1pPr lvl="0" marR="0" algn="l">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arxiv.org/abs/2509.04198" TargetMode="External"/><Relationship Id="rId4" Type="http://schemas.openxmlformats.org/officeDocument/2006/relationships/hyperlink" Target="https://ieeexplore.ieee.org/document/1096554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arxiv.org/abs/2509.04198" TargetMode="External"/><Relationship Id="rId4" Type="http://schemas.openxmlformats.org/officeDocument/2006/relationships/hyperlink" Target="https://arxiv.org/abs/2408.0631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rxiv.org/abs/2408.06318" TargetMode="External"/><Relationship Id="rId4" Type="http://schemas.openxmlformats.org/officeDocument/2006/relationships/hyperlink" Target="https://arxiv.org/abs/2509.0419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i.org/https://doi.org/10.1016/j.infsof.2015.03.00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ieeexplore.ieee.org/document/9826824/" TargetMode="External"/><Relationship Id="rId4" Type="http://schemas.openxmlformats.org/officeDocument/2006/relationships/hyperlink" Target="https://doi.org/10.1613/jair.1.13754" TargetMode="External"/><Relationship Id="rId5" Type="http://schemas.openxmlformats.org/officeDocument/2006/relationships/hyperlink" Target="https://doi.org/10.1613/jair.1.13754" TargetMode="External"/><Relationship Id="rId6"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ifaamas.org/Proceedings/aamas2024/pdfs/p354.pdf"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researchgate.net/publication/384501733_Fast_and_Accurate_Task_Planning_using_Neuro-Symbolic_Language_Models_and_Multi-level_Goal_Decomposition" TargetMode="External"/><Relationship Id="rId4" Type="http://schemas.openxmlformats.org/officeDocument/2006/relationships/hyperlink" Target="https://ojs.aaai.org/index.php/AAAI/article/view/29990" TargetMode="External"/><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researchgate.net/publication/342370760_A_Software_Architecture_for_Service_Robots_Manipulating_Objects_in_Human_Environments" TargetMode="Externa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researchgate.net/publication/375950195_A_System_For_Robot_Concept_Learning_Through_Situated_Dialogue" TargetMode="Externa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hyperlink" Target="https://arxiv.org/abs/2308.06391" TargetMode="External"/><Relationship Id="rId5" Type="http://schemas.openxmlformats.org/officeDocument/2006/relationships/hyperlink" Target="https://dl.acm.org/doi/10.1145/3461702.3462515" TargetMode="External"/><Relationship Id="rId6" Type="http://schemas.openxmlformats.org/officeDocument/2006/relationships/hyperlink" Target="https://dl.acm.org/doi/10.1145/3461702.3462515"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hyperlink" Target="https://www.researchgate.net/publication/351784351_Towards_Explainable_Visionary_Agents_License_to_Dare_and_Imagin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dl.acm.org/doi/10.1145/3746252.3761057" TargetMode="Externa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dl.acm.org/doi/10.1145/3746252.3761057" TargetMode="Externa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arxiv.org/abs/2408.06318" TargetMode="External"/><Relationship Id="rId4" Type="http://schemas.openxmlformats.org/officeDocument/2006/relationships/hyperlink" Target="https://dl.acm.org/doi/10.1145/3555776.3577657" TargetMode="External"/><Relationship Id="rId10" Type="http://schemas.openxmlformats.org/officeDocument/2006/relationships/hyperlink" Target="https://dl.acm.org/doi/10.1145/3706598.3714113" TargetMode="External"/><Relationship Id="rId9" Type="http://schemas.openxmlformats.org/officeDocument/2006/relationships/hyperlink" Target="https://link.springer.com/article/10.1007/s00354-024-00243-8" TargetMode="External"/><Relationship Id="rId5" Type="http://schemas.openxmlformats.org/officeDocument/2006/relationships/hyperlink" Target="https://www.researchgate.net/publication/395439140_Mingyue_A_Multi-Agent_System_for_Human-AI_Collaborative_Decision-Making_Under_Safety_Constraints_in_Complex_Power_Grids" TargetMode="External"/><Relationship Id="rId6" Type="http://schemas.openxmlformats.org/officeDocument/2006/relationships/hyperlink" Target="https://www.researchgate.net/publication/395680688_Agentic_Reasoning_for_Social_Event_Extrapolation_Integrating_Knowledge_Graphs_and_Language_Models" TargetMode="External"/><Relationship Id="rId7" Type="http://schemas.openxmlformats.org/officeDocument/2006/relationships/hyperlink" Target="https://www.researchgate.net/publication/375950195_A_System_For_Robot_Concept_Learning_Through_Situated_Dialogue" TargetMode="External"/><Relationship Id="rId8" Type="http://schemas.openxmlformats.org/officeDocument/2006/relationships/hyperlink" Target="https://www.frontiersin.org/journals/neurorobotics/articles/10.3389/fnbot.2024.1342786/ful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www.researchgate.net/publication/395439140_Mingyue_A_Multi-Agent_System_for_Human-AI_Collaborative_Decision-Making_Under_Safety_Constraints_in_Complex_Power_Grids" TargetMode="External"/><Relationship Id="rId4" Type="http://schemas.openxmlformats.org/officeDocument/2006/relationships/hyperlink" Target="https://doi.org/10.1609/aaai.v39i14.33598" TargetMode="External"/><Relationship Id="rId5" Type="http://schemas.openxmlformats.org/officeDocument/2006/relationships/hyperlink" Target="https://www.researchgate.net/publication/395224424_Neuro-Symbolic_Imitation_Learning_Discovering_Symbolic_Abstractions_for_Skill_Learning" TargetMode="External"/><Relationship Id="rId6" Type="http://schemas.openxmlformats.org/officeDocument/2006/relationships/hyperlink" Target="https://dl.acm.org/doi/abs/10.1109/TRO.2022.3226144"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TUM_Glockenturm.tif" id="92" name="Google Shape;92;p15"/>
          <p:cNvPicPr preferRelativeResize="0"/>
          <p:nvPr/>
        </p:nvPicPr>
        <p:blipFill rotWithShape="1">
          <a:blip r:embed="rId3">
            <a:alphaModFix/>
          </a:blip>
          <a:srcRect b="0" l="0" r="0" t="0"/>
          <a:stretch/>
        </p:blipFill>
        <p:spPr>
          <a:xfrm>
            <a:off x="5089902" y="3163286"/>
            <a:ext cx="3892489" cy="3397419"/>
          </a:xfrm>
          <a:prstGeom prst="rect">
            <a:avLst/>
          </a:prstGeom>
          <a:noFill/>
          <a:ln>
            <a:noFill/>
          </a:ln>
        </p:spPr>
      </p:pic>
      <p:sp>
        <p:nvSpPr>
          <p:cNvPr id="93" name="Google Shape;93;p15"/>
          <p:cNvSpPr txBox="1"/>
          <p:nvPr>
            <p:ph idx="1" type="body"/>
          </p:nvPr>
        </p:nvSpPr>
        <p:spPr>
          <a:xfrm>
            <a:off x="319100" y="2640108"/>
            <a:ext cx="8508900" cy="20832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de-DE"/>
              <a:t>Marc Peñalver Guilera</a:t>
            </a:r>
            <a:endParaRPr/>
          </a:p>
          <a:p>
            <a:pPr indent="0" lvl="0" marL="0" rtl="0" algn="l">
              <a:lnSpc>
                <a:spcPct val="150000"/>
              </a:lnSpc>
              <a:spcBef>
                <a:spcPts val="0"/>
              </a:spcBef>
              <a:spcAft>
                <a:spcPts val="0"/>
              </a:spcAft>
              <a:buNone/>
            </a:pPr>
            <a:r>
              <a:rPr lang="de-DE"/>
              <a:t>Technische Universität München</a:t>
            </a:r>
            <a:endParaRPr/>
          </a:p>
          <a:p>
            <a:pPr indent="0" lvl="0" marL="0" marR="0" rtl="0" algn="l">
              <a:lnSpc>
                <a:spcPct val="150000"/>
              </a:lnSpc>
              <a:spcBef>
                <a:spcPts val="0"/>
              </a:spcBef>
              <a:spcAft>
                <a:spcPts val="0"/>
              </a:spcAft>
              <a:buNone/>
            </a:pPr>
            <a:r>
              <a:rPr lang="de-DE"/>
              <a:t>TUM School of </a:t>
            </a:r>
            <a:r>
              <a:rPr lang="de-DE"/>
              <a:t>Computation, Information and Technology </a:t>
            </a:r>
            <a:r>
              <a:rPr lang="de-DE"/>
              <a:t> </a:t>
            </a:r>
            <a:endParaRPr/>
          </a:p>
          <a:p>
            <a:pPr indent="0" lvl="0" marL="0" marR="0" rtl="0" algn="l">
              <a:lnSpc>
                <a:spcPct val="150000"/>
              </a:lnSpc>
              <a:spcBef>
                <a:spcPts val="0"/>
              </a:spcBef>
              <a:spcAft>
                <a:spcPts val="0"/>
              </a:spcAft>
              <a:buNone/>
            </a:pPr>
            <a:r>
              <a:rPr lang="de-DE"/>
              <a:t>Chair of Robotics, Artificial Intelligence and Real-time Systems</a:t>
            </a:r>
            <a:endParaRPr/>
          </a:p>
          <a:p>
            <a:pPr indent="0" lvl="0" marL="0" rtl="0" algn="l">
              <a:lnSpc>
                <a:spcPct val="150000"/>
              </a:lnSpc>
              <a:spcBef>
                <a:spcPts val="0"/>
              </a:spcBef>
              <a:spcAft>
                <a:spcPts val="0"/>
              </a:spcAft>
              <a:buNone/>
            </a:pPr>
            <a:r>
              <a:rPr lang="de-DE"/>
              <a:t>Location, Date (Munich: December 12, 2025)</a:t>
            </a:r>
            <a:endParaRPr/>
          </a:p>
        </p:txBody>
      </p:sp>
      <p:sp>
        <p:nvSpPr>
          <p:cNvPr id="94" name="Google Shape;94;p15"/>
          <p:cNvSpPr txBox="1"/>
          <p:nvPr>
            <p:ph type="title"/>
          </p:nvPr>
        </p:nvSpPr>
        <p:spPr>
          <a:xfrm>
            <a:off x="319090" y="831533"/>
            <a:ext cx="8508900" cy="14469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Clr>
                <a:schemeClr val="dk1"/>
              </a:buClr>
              <a:buSzPts val="1100"/>
              <a:buFont typeface="Arial"/>
              <a:buNone/>
            </a:pPr>
            <a:r>
              <a:rPr lang="de-DE"/>
              <a:t>Long-Horizon Task Planning for Autonomous</a:t>
            </a:r>
            <a:endParaRPr/>
          </a:p>
          <a:p>
            <a:pPr indent="0" lvl="0" marL="0" rtl="0" algn="l">
              <a:lnSpc>
                <a:spcPct val="106666"/>
              </a:lnSpc>
              <a:spcBef>
                <a:spcPts val="0"/>
              </a:spcBef>
              <a:spcAft>
                <a:spcPts val="0"/>
              </a:spcAft>
              <a:buClr>
                <a:schemeClr val="dk1"/>
              </a:buClr>
              <a:buSzPts val="1100"/>
              <a:buFont typeface="Arial"/>
              <a:buNone/>
            </a:pPr>
            <a:r>
              <a:rPr lang="de-DE"/>
              <a:t>Agents with Hybrid Architecture: a Systematic</a:t>
            </a:r>
            <a:endParaRPr/>
          </a:p>
          <a:p>
            <a:pPr indent="0" lvl="0" marL="0" rtl="0" algn="l">
              <a:lnSpc>
                <a:spcPct val="106666"/>
              </a:lnSpc>
              <a:spcBef>
                <a:spcPts val="0"/>
              </a:spcBef>
              <a:spcAft>
                <a:spcPts val="0"/>
              </a:spcAft>
              <a:buClr>
                <a:srgbClr val="000000"/>
              </a:buClr>
              <a:buFont typeface="Arial"/>
              <a:buNone/>
            </a:pPr>
            <a:r>
              <a:rPr lang="de-DE"/>
              <a:t>Mapping Study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idx="1" type="body"/>
          </p:nvPr>
        </p:nvSpPr>
        <p:spPr>
          <a:xfrm>
            <a:off x="319100" y="1762272"/>
            <a:ext cx="8508900" cy="431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de-DE"/>
              <a:t>The Legacy of Traditional RPA:</a:t>
            </a:r>
            <a:r>
              <a:rPr lang="de-DE"/>
              <a:t> Robotic Process Automation (RPA) has historically dominated task automation by delivering cost reduction, efficiency, and error mitigation. However, these systems rely on predefined rules, making them rigid, fragile, and unable to adapt to unforeseen changes (</a:t>
            </a:r>
            <a:r>
              <a:rPr lang="de-DE" u="sng">
                <a:solidFill>
                  <a:schemeClr val="hlink"/>
                </a:solidFill>
                <a:hlinkClick r:id="rId3"/>
              </a:rPr>
              <a:t>Průcha, P. et al. 2025</a:t>
            </a:r>
            <a:r>
              <a:rPr lang="de-DE"/>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The Shift to Cognitive Automation:</a:t>
            </a:r>
            <a:r>
              <a:rPr lang="de-DE"/>
              <a:t> Recent advances in Large Language Models (LLMs) have introduced a new class of adaptable "language agents."</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4000"/>
              </a:lnSpc>
              <a:spcBef>
                <a:spcPts val="0"/>
              </a:spcBef>
              <a:spcAft>
                <a:spcPts val="0"/>
              </a:spcAft>
              <a:buClr>
                <a:srgbClr val="000000"/>
              </a:buClr>
              <a:buFont typeface="Arial"/>
              <a:buNone/>
            </a:pPr>
            <a:r>
              <a:rPr b="1" lang="de-DE"/>
              <a:t>LLM Capabilities: </a:t>
            </a:r>
            <a:r>
              <a:rPr lang="de-DE"/>
              <a:t>Unlike traditional RPA, LLMs are entrusted with reasoning, planning, and decision-making. Their generalized knowledge empowers them to tackle complex tasks with inherent flexibility and minimal tuning (</a:t>
            </a:r>
            <a:r>
              <a:rPr lang="de-DE" u="sng">
                <a:solidFill>
                  <a:schemeClr val="hlink"/>
                </a:solidFill>
                <a:hlinkClick r:id="rId4"/>
              </a:rPr>
              <a:t>Ganguly, P. &amp;  Mukherjee, I. 2025</a:t>
            </a:r>
            <a:r>
              <a:rPr lang="de-DE"/>
              <a:t>).</a:t>
            </a:r>
            <a:endParaRPr/>
          </a:p>
        </p:txBody>
      </p:sp>
      <p:sp>
        <p:nvSpPr>
          <p:cNvPr id="100" name="Google Shape;100;p16"/>
          <p:cNvSpPr txBox="1"/>
          <p:nvPr>
            <p:ph idx="12" type="sldNum"/>
          </p:nvPr>
        </p:nvSpPr>
        <p:spPr>
          <a:xfrm>
            <a:off x="6774934" y="6473313"/>
            <a:ext cx="2052074" cy="365125"/>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01" name="Google Shape;101;p16"/>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a:t>
            </a:r>
            <a:r>
              <a:rPr lang="de-DE"/>
              <a:t> Peñalver Guilera (TUM) | Chair of Robotics, Artificial Intelligence and Real-time Systems | Topic Presentation</a:t>
            </a:r>
            <a:endParaRPr/>
          </a:p>
        </p:txBody>
      </p:sp>
      <p:sp>
        <p:nvSpPr>
          <p:cNvPr id="102" name="Google Shape;102;p16"/>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1.1 Motivation</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idx="1" type="body"/>
          </p:nvPr>
        </p:nvSpPr>
        <p:spPr>
          <a:xfrm>
            <a:off x="319100" y="1762247"/>
            <a:ext cx="8508900" cy="418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de-DE"/>
              <a:t>The Flexibility–Compliance Dilemma:</a:t>
            </a:r>
            <a:r>
              <a:rPr lang="de-DE"/>
              <a:t> Traditional RPA guarantees high compliance but lacks flexibility. Conversely, LLM-based agents are highly flexible but suffer from significant deficits in reliability, particularly over extended action sequences </a:t>
            </a:r>
            <a:r>
              <a:rPr lang="de-DE"/>
              <a:t>(</a:t>
            </a:r>
            <a:r>
              <a:rPr lang="de-DE" u="sng">
                <a:solidFill>
                  <a:schemeClr val="hlink"/>
                </a:solidFill>
                <a:hlinkClick r:id="rId3"/>
              </a:rPr>
              <a:t>Průcha, P. et al. 2025</a:t>
            </a:r>
            <a:r>
              <a:rPr lang="de-DE"/>
              <a:t>)</a:t>
            </a:r>
            <a:r>
              <a:rPr lang="de-DE"/>
              <a:t>.</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4000"/>
              </a:lnSpc>
              <a:spcBef>
                <a:spcPts val="0"/>
              </a:spcBef>
              <a:spcAft>
                <a:spcPts val="0"/>
              </a:spcAft>
              <a:buClr>
                <a:srgbClr val="000000"/>
              </a:buClr>
              <a:buFont typeface="Arial"/>
              <a:buNone/>
            </a:pPr>
            <a:r>
              <a:rPr b="1" lang="de-DE"/>
              <a:t>Demonstrated Failures:</a:t>
            </a:r>
            <a:r>
              <a:rPr lang="de-DE"/>
              <a:t> State-of-the-art models struggle to maintain coherent long-term strategies, evidenced by success rates as low as 4.4% on benchmarks like TravelPlanner (</a:t>
            </a:r>
            <a:r>
              <a:rPr lang="de-DE" u="sng">
                <a:solidFill>
                  <a:schemeClr val="hlink"/>
                </a:solidFill>
                <a:hlinkClick r:id="rId4"/>
              </a:rPr>
              <a:t>Chen, Y., et al. 2024</a:t>
            </a:r>
            <a:r>
              <a:rPr lang="de-DE"/>
              <a:t>).</a:t>
            </a:r>
            <a:endParaRPr/>
          </a:p>
          <a:p>
            <a:pPr indent="0" lvl="0" marL="0" rtl="0" algn="l">
              <a:lnSpc>
                <a:spcPct val="114000"/>
              </a:lnSpc>
              <a:spcBef>
                <a:spcPts val="0"/>
              </a:spcBef>
              <a:spcAft>
                <a:spcPts val="0"/>
              </a:spcAft>
              <a:buClr>
                <a:srgbClr val="000000"/>
              </a:buClr>
              <a:buFont typeface="Arial"/>
              <a:buNone/>
            </a:pPr>
            <a:r>
              <a:t/>
            </a:r>
            <a:endParaRPr/>
          </a:p>
          <a:p>
            <a:pPr indent="0" lvl="0" marL="0" rtl="0" algn="l">
              <a:spcBef>
                <a:spcPts val="0"/>
              </a:spcBef>
              <a:spcAft>
                <a:spcPts val="0"/>
              </a:spcAft>
              <a:buClr>
                <a:schemeClr val="dk1"/>
              </a:buClr>
              <a:buSzPts val="1100"/>
              <a:buFont typeface="Arial"/>
              <a:buNone/>
            </a:pPr>
            <a:r>
              <a:rPr b="1" lang="de-DE"/>
              <a:t>Core LLM Limitations:</a:t>
            </a:r>
            <a:endParaRPr/>
          </a:p>
          <a:p>
            <a:pPr indent="-317500" lvl="0" marL="457200" rtl="0" algn="l">
              <a:spcBef>
                <a:spcPts val="0"/>
              </a:spcBef>
              <a:spcAft>
                <a:spcPts val="0"/>
              </a:spcAft>
              <a:buSzPts val="1400"/>
              <a:buChar char="-"/>
            </a:pPr>
            <a:r>
              <a:rPr lang="de-DE"/>
              <a:t>Struggle to reason over long contexts.</a:t>
            </a:r>
            <a:endParaRPr/>
          </a:p>
          <a:p>
            <a:pPr indent="-317500" lvl="0" marL="457200" rtl="0" algn="l">
              <a:spcBef>
                <a:spcPts val="0"/>
              </a:spcBef>
              <a:spcAft>
                <a:spcPts val="0"/>
              </a:spcAft>
              <a:buSzPts val="1400"/>
              <a:buChar char="-"/>
            </a:pPr>
            <a:r>
              <a:rPr lang="de-DE"/>
              <a:t>Weak self-correction capabilities.</a:t>
            </a:r>
            <a:endParaRPr/>
          </a:p>
          <a:p>
            <a:pPr indent="-317500" lvl="0" marL="457200" rtl="0" algn="l">
              <a:spcBef>
                <a:spcPts val="0"/>
              </a:spcBef>
              <a:spcAft>
                <a:spcPts val="0"/>
              </a:spcAft>
              <a:buSzPts val="1400"/>
              <a:buChar char="-"/>
            </a:pPr>
            <a:r>
              <a:rPr lang="de-DE"/>
              <a:t>Prone to hallucinations.</a:t>
            </a:r>
            <a:endParaRPr/>
          </a:p>
        </p:txBody>
      </p:sp>
      <p:sp>
        <p:nvSpPr>
          <p:cNvPr id="108" name="Google Shape;108;p17"/>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09" name="Google Shape;109;p17"/>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10" name="Google Shape;110;p17"/>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1.2 </a:t>
            </a:r>
            <a:r>
              <a:rPr lang="de-DE"/>
              <a:t>Problem Statement</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idx="1" type="body"/>
          </p:nvPr>
        </p:nvSpPr>
        <p:spPr>
          <a:xfrm>
            <a:off x="319100" y="1684563"/>
            <a:ext cx="8508900" cy="442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de-DE"/>
              <a:t>The Research Frontier:</a:t>
            </a:r>
            <a:r>
              <a:rPr lang="de-DE"/>
              <a:t> Overcoming this dilemma requires novel cognitive architectures that separate high-level planning from low-level execution, utilize environmental feedback loops for self-correction, and enable dynamic replanning (</a:t>
            </a:r>
            <a:r>
              <a:rPr lang="de-DE" u="sng">
                <a:solidFill>
                  <a:schemeClr val="hlink"/>
                </a:solidFill>
                <a:hlinkClick r:id="rId3"/>
              </a:rPr>
              <a:t>Chen, Y., et al. 2024</a:t>
            </a:r>
            <a:r>
              <a:rPr lang="de-DE"/>
              <a:t>, </a:t>
            </a:r>
            <a:r>
              <a:rPr lang="de-DE" u="sng">
                <a:solidFill>
                  <a:schemeClr val="hlink"/>
                </a:solidFill>
                <a:hlinkClick r:id="rId4"/>
              </a:rPr>
              <a:t>Průcha, P. et al. 2025</a:t>
            </a:r>
            <a:r>
              <a:rPr lang="de-DE"/>
              <a:t>).</a:t>
            </a:r>
            <a:endParaRPr/>
          </a:p>
          <a:p>
            <a:pPr indent="0" lvl="0" marL="0" rtl="0" algn="l">
              <a:spcBef>
                <a:spcPts val="0"/>
              </a:spcBef>
              <a:spcAft>
                <a:spcPts val="0"/>
              </a:spcAft>
              <a:buNone/>
            </a:pPr>
            <a:r>
              <a:t/>
            </a:r>
            <a:endParaRPr b="1"/>
          </a:p>
          <a:p>
            <a:pPr indent="0" lvl="0" marL="0" rtl="0" algn="l">
              <a:spcBef>
                <a:spcPts val="0"/>
              </a:spcBef>
              <a:spcAft>
                <a:spcPts val="0"/>
              </a:spcAft>
              <a:buNone/>
            </a:pPr>
            <a:r>
              <a:rPr lang="de-DE"/>
              <a:t>The goal of this seminar is to systematically map and categorize these architectural strategies for hybrid long-horizon planning currently employed in the literature. To achieve this the following research questions are addressed:</a:t>
            </a:r>
            <a:endParaRPr/>
          </a:p>
          <a:p>
            <a:pPr indent="0" lvl="0" marL="0" rtl="0" algn="l">
              <a:spcBef>
                <a:spcPts val="0"/>
              </a:spcBef>
              <a:spcAft>
                <a:spcPts val="0"/>
              </a:spcAft>
              <a:buNone/>
            </a:pPr>
            <a:r>
              <a:t/>
            </a:r>
            <a:endParaRPr b="1"/>
          </a:p>
          <a:p>
            <a:pPr indent="-317500" lvl="0" marL="457200" rtl="0" algn="l">
              <a:spcBef>
                <a:spcPts val="0"/>
              </a:spcBef>
              <a:spcAft>
                <a:spcPts val="0"/>
              </a:spcAft>
              <a:buSzPts val="1400"/>
              <a:buChar char="●"/>
            </a:pPr>
            <a:r>
              <a:rPr b="1" lang="de-DE"/>
              <a:t>RQ1:</a:t>
            </a:r>
            <a:r>
              <a:rPr lang="de-DE"/>
              <a:t> What is the trend in publication over time and the distribution of research types and venues in the field of hybrid long–horizon planning?</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b="1" lang="de-DE"/>
              <a:t>RQ2:</a:t>
            </a:r>
            <a:r>
              <a:rPr lang="de-DE"/>
              <a:t> What specific challenges and limitations in autonomous agents do current hybrid architectures aim to address, and what paradigms are they intended to automate?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b="1" lang="de-DE"/>
              <a:t>RQ3:</a:t>
            </a:r>
            <a:r>
              <a:rPr lang="de-DE"/>
              <a:t> What architectural mechanisms are employed by MAS and agentic AI systems to address these challenges, and what are the identified gaps for long–horizon task automation?</a:t>
            </a:r>
            <a:endParaRPr/>
          </a:p>
        </p:txBody>
      </p:sp>
      <p:sp>
        <p:nvSpPr>
          <p:cNvPr id="116" name="Google Shape;116;p18"/>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17" name="Google Shape;117;p18"/>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18" name="Google Shape;118;p18"/>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1.3 Research Questions</a:t>
            </a:r>
            <a:endParaRPr sz="3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idx="1" type="body"/>
          </p:nvPr>
        </p:nvSpPr>
        <p:spPr>
          <a:xfrm>
            <a:off x="319100" y="1762310"/>
            <a:ext cx="8508900" cy="396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de-DE"/>
              <a:t>The study follows the systematic mapping guidelines established by </a:t>
            </a:r>
            <a:r>
              <a:rPr lang="de-DE" u="sng">
                <a:solidFill>
                  <a:schemeClr val="hlink"/>
                </a:solidFill>
                <a:hlinkClick r:id="rId3"/>
              </a:rPr>
              <a:t>Petersen et al. (2015)</a:t>
            </a:r>
            <a:r>
              <a:rPr lang="de-DE"/>
              <a:t> to ensure descriptive and theoretical validity.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Search Strategy:</a:t>
            </a:r>
            <a:r>
              <a:rPr lang="de-DE"/>
              <a:t> Utilised the PICO framework (Population and Intervention) to define the scope and iteratively derive keyword combinations and synonyms to refine the search strings. Defined and applied inclusion and exclusion criteria for each of the evaluated papers.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Data Sources:</a:t>
            </a:r>
            <a:r>
              <a:rPr lang="de-DE"/>
              <a:t> Conducted searches across the following venues: IEEE Xplore, Scopus, and the ACM Digital Library.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Data Extraction:</a:t>
            </a:r>
            <a:r>
              <a:rPr lang="de-DE"/>
              <a:t> Developed a structured extraction form covering metadata, research questions, and administrative fields to systematically process each paper.</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4000"/>
              </a:lnSpc>
              <a:spcBef>
                <a:spcPts val="0"/>
              </a:spcBef>
              <a:spcAft>
                <a:spcPts val="0"/>
              </a:spcAft>
              <a:buClr>
                <a:srgbClr val="000000"/>
              </a:buClr>
              <a:buFont typeface="Arial"/>
              <a:buNone/>
            </a:pPr>
            <a:r>
              <a:rPr b="1" lang="de-DE"/>
              <a:t>Quality Assessment:</a:t>
            </a:r>
            <a:r>
              <a:rPr lang="de-DE"/>
              <a:t> Evaluated methodological rigour across six dimensions (e.g., Clear Goal, Empirical Evidence, Threats discussed) to score and classify studies from Limited to High Rigour.</a:t>
            </a:r>
            <a:endParaRPr/>
          </a:p>
        </p:txBody>
      </p:sp>
      <p:sp>
        <p:nvSpPr>
          <p:cNvPr id="124" name="Google Shape;124;p19"/>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25" name="Google Shape;125;p19"/>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26" name="Google Shape;126;p19"/>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2.1 Research Methodology</a:t>
            </a:r>
            <a:endParaRPr sz="3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idx="1" type="body"/>
          </p:nvPr>
        </p:nvSpPr>
        <p:spPr>
          <a:xfrm>
            <a:off x="319100" y="1762296"/>
            <a:ext cx="8508900" cy="350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de-DE"/>
              <a:t>Selection Criteria:</a:t>
            </a:r>
            <a:r>
              <a:rPr lang="de-DE"/>
              <a:t> Established strict inclusion/exclusion rules, filtering for peer-reviewed, English-language studies published between 2020 and 2025.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Preprocessing:</a:t>
            </a:r>
            <a:r>
              <a:rPr lang="de-DE"/>
              <a:t> Exported metadata for automated processing and utilised a Python script to normalise fields and remove duplicate records based on DOIs.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AI-Assisted Screening: </a:t>
            </a:r>
            <a:r>
              <a:rPr lang="de-DE"/>
              <a:t>Leveraged a Language Model for initial title and abstract screening to flag irrelevant or non-English documents, followed by manual researcher review.</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4000"/>
              </a:lnSpc>
              <a:spcBef>
                <a:spcPts val="0"/>
              </a:spcBef>
              <a:spcAft>
                <a:spcPts val="0"/>
              </a:spcAft>
              <a:buClr>
                <a:srgbClr val="000000"/>
              </a:buClr>
              <a:buFont typeface="Arial"/>
              <a:buNone/>
            </a:pPr>
            <a:r>
              <a:rPr b="1" lang="de-DE"/>
              <a:t>Snowballing: </a:t>
            </a:r>
            <a:r>
              <a:rPr lang="de-DE"/>
              <a:t>Conducted backward-and-forward snowball sampling on the highest-quality papers to identify additional relevant literature.</a:t>
            </a:r>
            <a:endParaRPr/>
          </a:p>
        </p:txBody>
      </p:sp>
      <p:sp>
        <p:nvSpPr>
          <p:cNvPr id="132" name="Google Shape;132;p20"/>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33" name="Google Shape;133;p20"/>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34" name="Google Shape;134;p20"/>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2.2 Papers included from the Digital Libraries</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40" name="Google Shape;140;p21"/>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41" name="Google Shape;141;p21"/>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2.3 Papers included from the Digital Libraries</a:t>
            </a:r>
            <a:endParaRPr sz="3000"/>
          </a:p>
        </p:txBody>
      </p:sp>
      <p:pic>
        <p:nvPicPr>
          <p:cNvPr id="142" name="Google Shape;142;p21"/>
          <p:cNvPicPr preferRelativeResize="0"/>
          <p:nvPr/>
        </p:nvPicPr>
        <p:blipFill>
          <a:blip r:embed="rId3">
            <a:alphaModFix/>
          </a:blip>
          <a:stretch>
            <a:fillRect/>
          </a:stretch>
        </p:blipFill>
        <p:spPr>
          <a:xfrm>
            <a:off x="152400" y="1778309"/>
            <a:ext cx="8839204" cy="398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idx="1" type="body"/>
          </p:nvPr>
        </p:nvSpPr>
        <p:spPr>
          <a:xfrm>
            <a:off x="319100" y="1762312"/>
            <a:ext cx="8508900" cy="40593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Clr>
                <a:srgbClr val="000000"/>
              </a:buClr>
              <a:buFont typeface="Arial"/>
              <a:buNone/>
            </a:pPr>
            <a:r>
              <a:rPr b="1" lang="de-DE"/>
              <a:t>Derivation Process: </a:t>
            </a:r>
            <a:r>
              <a:rPr lang="de-DE"/>
              <a:t>Schemas were developed iteratively through an open coding process conducted during the full-text reading phase.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RQ1 </a:t>
            </a:r>
            <a:r>
              <a:rPr b="1" lang="de-DE"/>
              <a:t>Topic-Independent Classification:</a:t>
            </a:r>
            <a:r>
              <a:rPr lang="de-DE"/>
              <a:t> Papers were categorised by standard dimensions, specifically Research Type (e.g., evaluation, solution proposal) and Venue Type.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RQ2 Schemas:</a:t>
            </a:r>
            <a:r>
              <a:rPr lang="de-DE"/>
              <a:t> Derived categories mapping the specific </a:t>
            </a:r>
            <a:r>
              <a:rPr i="1" lang="de-DE"/>
              <a:t>Challenges Addressed</a:t>
            </a:r>
            <a:r>
              <a:rPr lang="de-DE"/>
              <a:t> (e.g., Long-Horizon Failure, Brittleness) and the target </a:t>
            </a:r>
            <a:r>
              <a:rPr i="1" lang="de-DE"/>
              <a:t>Automation Paradigms</a:t>
            </a:r>
            <a:r>
              <a:rPr lang="de-DE"/>
              <a:t> (e.g., Embodied AI, Knowledge-Intensive BPM).</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4000"/>
              </a:lnSpc>
              <a:spcBef>
                <a:spcPts val="0"/>
              </a:spcBef>
              <a:spcAft>
                <a:spcPts val="0"/>
              </a:spcAft>
              <a:buClr>
                <a:srgbClr val="000000"/>
              </a:buClr>
              <a:buFont typeface="Arial"/>
              <a:buNone/>
            </a:pPr>
            <a:r>
              <a:rPr b="1" lang="de-DE"/>
              <a:t>RQ3 Schemas: </a:t>
            </a:r>
            <a:r>
              <a:rPr lang="de-DE"/>
              <a:t>Classified the architectural mechanisms into distinct modules: </a:t>
            </a:r>
            <a:r>
              <a:rPr i="1" lang="de-DE"/>
              <a:t>Neural Components, Symbolic Mechanisms, Memory Systems, Self-Correction Approaches, and Compliance Reasoning Paradigms.</a:t>
            </a:r>
            <a:endParaRPr i="1"/>
          </a:p>
        </p:txBody>
      </p:sp>
      <p:sp>
        <p:nvSpPr>
          <p:cNvPr id="148" name="Google Shape;148;p22"/>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49" name="Google Shape;149;p22"/>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50" name="Google Shape;150;p22"/>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2.4 Classification Schemas</a:t>
            </a: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56" name="Google Shape;156;p23"/>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57" name="Google Shape;157;p23"/>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3.1.1 </a:t>
            </a:r>
            <a:r>
              <a:rPr lang="de-DE"/>
              <a:t>RQ1 - Trend Analysis of Research Facets.</a:t>
            </a:r>
            <a:endParaRPr/>
          </a:p>
        </p:txBody>
      </p:sp>
      <p:sp>
        <p:nvSpPr>
          <p:cNvPr id="158" name="Google Shape;158;p23"/>
          <p:cNvSpPr txBox="1"/>
          <p:nvPr/>
        </p:nvSpPr>
        <p:spPr>
          <a:xfrm>
            <a:off x="5867000" y="1832900"/>
            <a:ext cx="2961000" cy="39726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200"/>
              </a:spcBef>
              <a:spcAft>
                <a:spcPts val="0"/>
              </a:spcAft>
              <a:buNone/>
            </a:pPr>
            <a:r>
              <a:rPr b="1" lang="de-DE" sz="1100">
                <a:solidFill>
                  <a:srgbClr val="000000"/>
                </a:solidFill>
              </a:rPr>
              <a:t>Exponential Growth:</a:t>
            </a:r>
            <a:r>
              <a:rPr lang="de-DE" sz="1100">
                <a:solidFill>
                  <a:srgbClr val="000000"/>
                </a:solidFill>
              </a:rPr>
              <a:t> Rapid surge in publications, growing from a single study in 2020 to 33 in 2025.</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Solution Dominance:</a:t>
            </a:r>
            <a:r>
              <a:rPr lang="de-DE" sz="1100">
                <a:solidFill>
                  <a:srgbClr val="000000"/>
                </a:solidFill>
              </a:rPr>
              <a:t> ~90% of literature consists of "Solution Proposals," indicating a heavy focus on architectural design.</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Empirical Gap:</a:t>
            </a:r>
            <a:r>
              <a:rPr lang="de-DE" sz="1100">
                <a:solidFill>
                  <a:srgbClr val="000000"/>
                </a:solidFill>
              </a:rPr>
              <a:t> A complete absence of "Evaluation" or "Validation" research suggests the field lacks large-scale, real-world industrial testing.</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Emergence of Synthesis:</a:t>
            </a:r>
            <a:r>
              <a:rPr lang="de-DE" sz="1100">
                <a:solidFill>
                  <a:srgbClr val="000000"/>
                </a:solidFill>
              </a:rPr>
              <a:t> Literature reviews only appeared in 2024/2025, signaling that the field has finally reached a critical density requiring consolidation.</a:t>
            </a:r>
            <a:endParaRPr sz="1100">
              <a:solidFill>
                <a:srgbClr val="000000"/>
              </a:solidFill>
            </a:endParaRPr>
          </a:p>
          <a:p>
            <a:pPr indent="0" lvl="0" marL="0" rtl="0" algn="l">
              <a:lnSpc>
                <a:spcPct val="115000"/>
              </a:lnSpc>
              <a:spcBef>
                <a:spcPts val="1200"/>
              </a:spcBef>
              <a:spcAft>
                <a:spcPts val="1200"/>
              </a:spcAft>
              <a:buNone/>
            </a:pPr>
            <a:r>
              <a:rPr b="1" lang="de-DE" sz="1100">
                <a:solidFill>
                  <a:srgbClr val="000000"/>
                </a:solidFill>
              </a:rPr>
              <a:t>Pragmatic Shift:</a:t>
            </a:r>
            <a:r>
              <a:rPr lang="de-DE" sz="1100">
                <a:solidFill>
                  <a:srgbClr val="000000"/>
                </a:solidFill>
              </a:rPr>
              <a:t> Theoretical research has shifted from abstract "Philosophical Papers" to pragmatic, implementation-first engineering within solution proposals.</a:t>
            </a:r>
            <a:endParaRPr sz="1800">
              <a:solidFill>
                <a:srgbClr val="595959"/>
              </a:solidFill>
            </a:endParaRPr>
          </a:p>
        </p:txBody>
      </p:sp>
      <p:pic>
        <p:nvPicPr>
          <p:cNvPr id="159" name="Google Shape;159;p23" title="Gràfic"/>
          <p:cNvPicPr preferRelativeResize="0"/>
          <p:nvPr/>
        </p:nvPicPr>
        <p:blipFill>
          <a:blip r:embed="rId3">
            <a:alphaModFix/>
          </a:blip>
          <a:stretch>
            <a:fillRect/>
          </a:stretch>
        </p:blipFill>
        <p:spPr>
          <a:xfrm>
            <a:off x="250300" y="1832900"/>
            <a:ext cx="5306227" cy="3972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65" name="Google Shape;165;p24"/>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66" name="Google Shape;166;p24"/>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3.1.2 RQ1 - </a:t>
            </a:r>
            <a:r>
              <a:rPr lang="de-DE"/>
              <a:t>Publication Venues and Categories </a:t>
            </a:r>
            <a:endParaRPr/>
          </a:p>
        </p:txBody>
      </p:sp>
      <p:sp>
        <p:nvSpPr>
          <p:cNvPr id="167" name="Google Shape;167;p24"/>
          <p:cNvSpPr txBox="1"/>
          <p:nvPr/>
        </p:nvSpPr>
        <p:spPr>
          <a:xfrm>
            <a:off x="5919625" y="1864861"/>
            <a:ext cx="2907300" cy="412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de-DE" sz="1100">
                <a:solidFill>
                  <a:srgbClr val="000000"/>
                </a:solidFill>
              </a:rPr>
              <a:t>Leading Hubs:</a:t>
            </a:r>
            <a:r>
              <a:rPr lang="de-DE" sz="1100">
                <a:solidFill>
                  <a:srgbClr val="000000"/>
                </a:solidFill>
              </a:rPr>
              <a:t> Research is concentrated in top-tier AI and Robotics communities, with </a:t>
            </a:r>
            <a:r>
              <a:rPr b="1" lang="de-DE" sz="1100">
                <a:solidFill>
                  <a:srgbClr val="000000"/>
                </a:solidFill>
              </a:rPr>
              <a:t>AAMAS and ICRA</a:t>
            </a:r>
            <a:r>
              <a:rPr lang="de-DE" sz="1100">
                <a:solidFill>
                  <a:srgbClr val="000000"/>
                </a:solidFill>
              </a:rPr>
              <a:t> accounting for ~20% of all papers.</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Conference Dominance (2:1 Ratio):</a:t>
            </a:r>
            <a:r>
              <a:rPr lang="de-DE" sz="1100">
                <a:solidFill>
                  <a:srgbClr val="000000"/>
                </a:solidFill>
              </a:rPr>
              <a:t> Preference for conferences over journals reflects a fast-paced environment prioritizing </a:t>
            </a:r>
            <a:r>
              <a:rPr b="1" lang="de-DE" sz="1100">
                <a:solidFill>
                  <a:srgbClr val="000000"/>
                </a:solidFill>
              </a:rPr>
              <a:t>rapid dissemination</a:t>
            </a:r>
            <a:r>
              <a:rPr lang="de-DE" sz="1100">
                <a:solidFill>
                  <a:srgbClr val="000000"/>
                </a:solidFill>
              </a:rPr>
              <a:t> and engineering pragmatism.</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Implementation-First Focus:</a:t>
            </a:r>
            <a:r>
              <a:rPr lang="de-DE" sz="1100">
                <a:solidFill>
                  <a:srgbClr val="000000"/>
                </a:solidFill>
              </a:rPr>
              <a:t> The shift toward conferences reinforces that "theory" is being integrated directly into functional prototypes rather than standalone philosophical papers.</a:t>
            </a:r>
            <a:endParaRPr sz="1100">
              <a:solidFill>
                <a:srgbClr val="000000"/>
              </a:solidFill>
            </a:endParaRPr>
          </a:p>
          <a:p>
            <a:pPr indent="0" lvl="0" marL="0" rtl="0" algn="l">
              <a:lnSpc>
                <a:spcPct val="115000"/>
              </a:lnSpc>
              <a:spcBef>
                <a:spcPts val="1200"/>
              </a:spcBef>
              <a:spcAft>
                <a:spcPts val="1200"/>
              </a:spcAft>
              <a:buNone/>
            </a:pPr>
            <a:r>
              <a:rPr b="1" lang="de-DE" sz="1100">
                <a:solidFill>
                  <a:srgbClr val="000000"/>
                </a:solidFill>
              </a:rPr>
              <a:t>High Fragmentation:</a:t>
            </a:r>
            <a:r>
              <a:rPr lang="de-DE" sz="1100">
                <a:solidFill>
                  <a:srgbClr val="000000"/>
                </a:solidFill>
              </a:rPr>
              <a:t> A "long tail" of 35+ unique venues (IoT, HCI, Software Engineering) shows </a:t>
            </a:r>
            <a:r>
              <a:rPr b="1" lang="de-DE" sz="1100">
                <a:solidFill>
                  <a:srgbClr val="000000"/>
                </a:solidFill>
              </a:rPr>
              <a:t>universal appeal</a:t>
            </a:r>
            <a:r>
              <a:rPr lang="de-DE" sz="1100">
                <a:solidFill>
                  <a:srgbClr val="000000"/>
                </a:solidFill>
              </a:rPr>
              <a:t> across computing, though the field lacks a single, unified publication home.</a:t>
            </a:r>
            <a:endParaRPr sz="1100">
              <a:solidFill>
                <a:srgbClr val="595959"/>
              </a:solidFill>
            </a:endParaRPr>
          </a:p>
        </p:txBody>
      </p:sp>
      <p:pic>
        <p:nvPicPr>
          <p:cNvPr id="168" name="Google Shape;168;p24" title="Gràfic"/>
          <p:cNvPicPr preferRelativeResize="0"/>
          <p:nvPr/>
        </p:nvPicPr>
        <p:blipFill>
          <a:blip r:embed="rId3">
            <a:alphaModFix/>
          </a:blip>
          <a:stretch>
            <a:fillRect/>
          </a:stretch>
        </p:blipFill>
        <p:spPr>
          <a:xfrm>
            <a:off x="311150" y="2279025"/>
            <a:ext cx="5500050" cy="3371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74" name="Google Shape;174;p25"/>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75" name="Google Shape;175;p25"/>
          <p:cNvSpPr txBox="1"/>
          <p:nvPr>
            <p:ph type="title"/>
          </p:nvPr>
        </p:nvSpPr>
        <p:spPr>
          <a:xfrm>
            <a:off x="319090" y="994334"/>
            <a:ext cx="8508900" cy="9543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3.2.1 RQ2 - Challenges Addressed by Hybrid Architectures</a:t>
            </a:r>
            <a:endParaRPr/>
          </a:p>
        </p:txBody>
      </p:sp>
      <p:sp>
        <p:nvSpPr>
          <p:cNvPr id="176" name="Google Shape;176;p25"/>
          <p:cNvSpPr txBox="1"/>
          <p:nvPr/>
        </p:nvSpPr>
        <p:spPr>
          <a:xfrm>
            <a:off x="6112654" y="2342142"/>
            <a:ext cx="2797500" cy="3428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935"/>
              <a:buNone/>
            </a:pPr>
            <a:r>
              <a:rPr b="1" lang="de-DE" sz="1200">
                <a:solidFill>
                  <a:srgbClr val="000000"/>
                </a:solidFill>
              </a:rPr>
              <a:t>Primary Challenges:</a:t>
            </a:r>
            <a:r>
              <a:rPr lang="de-DE" sz="1200">
                <a:solidFill>
                  <a:srgbClr val="000000"/>
                </a:solidFill>
              </a:rPr>
              <a:t> Explainability, Long-Horizon Failure, and Unstructured Environments drive the current research.</a:t>
            </a:r>
            <a:endParaRPr sz="1200">
              <a:solidFill>
                <a:srgbClr val="000000"/>
              </a:solidFill>
            </a:endParaRPr>
          </a:p>
          <a:p>
            <a:pPr indent="0" lvl="0" marL="0" rtl="0" algn="l">
              <a:lnSpc>
                <a:spcPct val="105000"/>
              </a:lnSpc>
              <a:spcBef>
                <a:spcPts val="1200"/>
              </a:spcBef>
              <a:spcAft>
                <a:spcPts val="0"/>
              </a:spcAft>
              <a:buSzPts val="935"/>
              <a:buNone/>
            </a:pPr>
            <a:r>
              <a:rPr b="1" lang="de-DE" sz="1200">
                <a:solidFill>
                  <a:srgbClr val="000000"/>
                </a:solidFill>
              </a:rPr>
              <a:t>The Hybrid Solution:</a:t>
            </a:r>
            <a:endParaRPr b="1" sz="1200">
              <a:solidFill>
                <a:srgbClr val="000000"/>
              </a:solidFill>
            </a:endParaRPr>
          </a:p>
          <a:p>
            <a:pPr indent="-304800" lvl="0" marL="457200" rtl="0" algn="l">
              <a:lnSpc>
                <a:spcPct val="105000"/>
              </a:lnSpc>
              <a:spcBef>
                <a:spcPts val="1200"/>
              </a:spcBef>
              <a:spcAft>
                <a:spcPts val="0"/>
              </a:spcAft>
              <a:buClr>
                <a:srgbClr val="000000"/>
              </a:buClr>
              <a:buSzPts val="1200"/>
              <a:buChar char="●"/>
            </a:pPr>
            <a:r>
              <a:rPr b="1" lang="de-DE" sz="1200">
                <a:solidFill>
                  <a:srgbClr val="000000"/>
                </a:solidFill>
              </a:rPr>
              <a:t>Symbolic:</a:t>
            </a:r>
            <a:r>
              <a:rPr lang="de-DE" sz="1200">
                <a:solidFill>
                  <a:srgbClr val="000000"/>
                </a:solidFill>
              </a:rPr>
              <a:t> Provides formal logic to solve planning failures (</a:t>
            </a:r>
            <a:r>
              <a:rPr lang="de-DE" sz="1200" u="sng">
                <a:solidFill>
                  <a:schemeClr val="hlink"/>
                </a:solidFill>
                <a:hlinkClick r:id="rId3"/>
              </a:rPr>
              <a:t>Xu, R. et al. 2022</a:t>
            </a:r>
            <a:r>
              <a:rPr lang="de-DE" sz="1200">
                <a:solidFill>
                  <a:srgbClr val="000000"/>
                </a:solidFill>
              </a:rPr>
              <a:t>).</a:t>
            </a:r>
            <a:endParaRPr sz="1200">
              <a:solidFill>
                <a:srgbClr val="000000"/>
              </a:solidFill>
            </a:endParaRPr>
          </a:p>
          <a:p>
            <a:pPr indent="-304800" lvl="0" marL="457200" rtl="0" algn="l">
              <a:lnSpc>
                <a:spcPct val="105000"/>
              </a:lnSpc>
              <a:spcBef>
                <a:spcPts val="0"/>
              </a:spcBef>
              <a:spcAft>
                <a:spcPts val="0"/>
              </a:spcAft>
              <a:buClr>
                <a:srgbClr val="000000"/>
              </a:buClr>
              <a:buSzPts val="1200"/>
              <a:buChar char="●"/>
            </a:pPr>
            <a:r>
              <a:rPr b="1" lang="de-DE" sz="1200">
                <a:solidFill>
                  <a:srgbClr val="000000"/>
                </a:solidFill>
              </a:rPr>
              <a:t>Neural:</a:t>
            </a:r>
            <a:r>
              <a:rPr lang="de-DE" sz="1200">
                <a:solidFill>
                  <a:srgbClr val="000000"/>
                </a:solidFill>
              </a:rPr>
              <a:t> Handles high-dimensional perception in unstructured environments (</a:t>
            </a:r>
            <a:r>
              <a:rPr lang="de-DE" sz="1200" u="sng">
                <a:solidFill>
                  <a:schemeClr val="hlink"/>
                </a:solidFill>
                <a:hlinkClick r:id="rId4"/>
              </a:rPr>
              <a:t>Ahmetoglu, A. et a</a:t>
            </a:r>
            <a:r>
              <a:rPr lang="de-DE" sz="1200" u="sng">
                <a:solidFill>
                  <a:schemeClr val="hlink"/>
                </a:solidFill>
                <a:hlinkClick r:id="rId5"/>
              </a:rPr>
              <a:t>l. 2022</a:t>
            </a:r>
            <a:r>
              <a:rPr lang="de-DE" sz="1200">
                <a:solidFill>
                  <a:srgbClr val="000000"/>
                </a:solidFill>
              </a:rPr>
              <a:t>).</a:t>
            </a:r>
            <a:endParaRPr sz="1200">
              <a:solidFill>
                <a:srgbClr val="595959"/>
              </a:solidFill>
            </a:endParaRPr>
          </a:p>
        </p:txBody>
      </p:sp>
      <p:pic>
        <p:nvPicPr>
          <p:cNvPr id="177" name="Google Shape;177;p25" title="Gràfic"/>
          <p:cNvPicPr preferRelativeResize="0"/>
          <p:nvPr/>
        </p:nvPicPr>
        <p:blipFill>
          <a:blip r:embed="rId6">
            <a:alphaModFix/>
          </a:blip>
          <a:stretch>
            <a:fillRect/>
          </a:stretch>
        </p:blipFill>
        <p:spPr>
          <a:xfrm>
            <a:off x="74925" y="2311875"/>
            <a:ext cx="5976325" cy="36930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83" name="Google Shape;183;p26"/>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84" name="Google Shape;184;p26"/>
          <p:cNvSpPr txBox="1"/>
          <p:nvPr>
            <p:ph type="title"/>
          </p:nvPr>
        </p:nvSpPr>
        <p:spPr>
          <a:xfrm>
            <a:off x="319090" y="994334"/>
            <a:ext cx="8508900" cy="9543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3.2.1 RQ2 - Challenges Addressed by Hybrid Architectures</a:t>
            </a:r>
            <a:endParaRPr/>
          </a:p>
        </p:txBody>
      </p:sp>
      <p:sp>
        <p:nvSpPr>
          <p:cNvPr id="185" name="Google Shape;185;p26"/>
          <p:cNvSpPr txBox="1"/>
          <p:nvPr/>
        </p:nvSpPr>
        <p:spPr>
          <a:xfrm>
            <a:off x="6086350" y="2409075"/>
            <a:ext cx="2867700" cy="3428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935"/>
              <a:buNone/>
            </a:pPr>
            <a:r>
              <a:rPr b="1" lang="de-DE" sz="1300">
                <a:solidFill>
                  <a:srgbClr val="000000"/>
                </a:solidFill>
              </a:rPr>
              <a:t>Performance in Robotics:</a:t>
            </a:r>
            <a:r>
              <a:rPr lang="de-DE" sz="1300">
                <a:solidFill>
                  <a:srgbClr val="000000"/>
                </a:solidFill>
              </a:rPr>
              <a:t> ~41% of robotics papers focus on</a:t>
            </a:r>
            <a:r>
              <a:rPr lang="de-DE" sz="1300"/>
              <a:t> </a:t>
            </a:r>
            <a:r>
              <a:rPr b="1" lang="de-DE" sz="1300"/>
              <a:t>Computational performance.</a:t>
            </a:r>
            <a:r>
              <a:rPr b="1" lang="de-DE" sz="1300"/>
              <a:t> </a:t>
            </a:r>
            <a:r>
              <a:rPr lang="de-DE" sz="1300"/>
              <a:t>This can be explained by a growing trend toward dual-planning architecture (</a:t>
            </a:r>
            <a:r>
              <a:rPr lang="de-DE" sz="1300" u="sng">
                <a:solidFill>
                  <a:schemeClr val="hlink"/>
                </a:solidFill>
                <a:hlinkClick r:id="rId3"/>
              </a:rPr>
              <a:t>Chiari, M. et al. 2024</a:t>
            </a:r>
            <a:r>
              <a:rPr lang="de-DE" sz="1300"/>
              <a:t>). </a:t>
            </a:r>
            <a:endParaRPr sz="1300"/>
          </a:p>
          <a:p>
            <a:pPr indent="0" lvl="0" marL="0" rtl="0" algn="l">
              <a:lnSpc>
                <a:spcPct val="105000"/>
              </a:lnSpc>
              <a:spcBef>
                <a:spcPts val="1200"/>
              </a:spcBef>
              <a:spcAft>
                <a:spcPts val="1200"/>
              </a:spcAft>
              <a:buSzPts val="935"/>
              <a:buNone/>
            </a:pPr>
            <a:r>
              <a:rPr b="1" lang="de-DE" sz="1300">
                <a:solidFill>
                  <a:srgbClr val="000000"/>
                </a:solidFill>
              </a:rPr>
              <a:t>Priority Shift:</a:t>
            </a:r>
            <a:r>
              <a:rPr lang="de-DE" sz="1300">
                <a:solidFill>
                  <a:srgbClr val="000000"/>
                </a:solidFill>
              </a:rPr>
              <a:t> The field is prioritizing </a:t>
            </a:r>
            <a:r>
              <a:rPr b="1" lang="de-DE" sz="1300">
                <a:solidFill>
                  <a:srgbClr val="000000"/>
                </a:solidFill>
              </a:rPr>
              <a:t>Reliability and Transparency</a:t>
            </a:r>
            <a:r>
              <a:rPr lang="de-DE" sz="1300">
                <a:solidFill>
                  <a:srgbClr val="000000"/>
                </a:solidFill>
              </a:rPr>
              <a:t> (fixing fundamental flaws) over adding new features or improving data efficiency.</a:t>
            </a:r>
            <a:endParaRPr sz="1300">
              <a:solidFill>
                <a:srgbClr val="595959"/>
              </a:solidFill>
            </a:endParaRPr>
          </a:p>
        </p:txBody>
      </p:sp>
      <p:pic>
        <p:nvPicPr>
          <p:cNvPr id="186" name="Google Shape;186;p26" title="Gràfic"/>
          <p:cNvPicPr preferRelativeResize="0"/>
          <p:nvPr/>
        </p:nvPicPr>
        <p:blipFill>
          <a:blip r:embed="rId4">
            <a:alphaModFix/>
          </a:blip>
          <a:stretch>
            <a:fillRect/>
          </a:stretch>
        </p:blipFill>
        <p:spPr>
          <a:xfrm>
            <a:off x="110025" y="2276775"/>
            <a:ext cx="5976325" cy="369301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idx="1" type="body"/>
          </p:nvPr>
        </p:nvSpPr>
        <p:spPr>
          <a:xfrm>
            <a:off x="319100" y="4172125"/>
            <a:ext cx="8508900" cy="238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de-DE" sz="1300"/>
              <a:t>Dominant Contexts:</a:t>
            </a:r>
            <a:r>
              <a:rPr lang="de-DE" sz="1300"/>
              <a:t> ~90% of research is concentrated in Embodied AI/Robotics and Environment-Agnostic frameworks.</a:t>
            </a:r>
            <a:endParaRPr sz="1300"/>
          </a:p>
          <a:p>
            <a:pPr indent="0" lvl="0" marL="0" rtl="0" algn="l">
              <a:spcBef>
                <a:spcPts val="0"/>
              </a:spcBef>
              <a:spcAft>
                <a:spcPts val="0"/>
              </a:spcAft>
              <a:buClr>
                <a:schemeClr val="dk1"/>
              </a:buClr>
              <a:buSzPts val="1100"/>
              <a:buFont typeface="Arial"/>
              <a:buNone/>
            </a:pPr>
            <a:r>
              <a:rPr b="1" lang="de-DE" sz="1300"/>
              <a:t>Embodied AI &amp; Robotics (52.7%):</a:t>
            </a:r>
            <a:r>
              <a:rPr lang="de-DE" sz="1300"/>
              <a:t> The primary testing ground for neuro-symbolic splits; utilizes neural layers for perception and symbolic layers for safe, deterministic execution.</a:t>
            </a:r>
            <a:endParaRPr sz="1300"/>
          </a:p>
          <a:p>
            <a:pPr indent="0" lvl="0" marL="0" rtl="0" algn="l">
              <a:spcBef>
                <a:spcPts val="0"/>
              </a:spcBef>
              <a:spcAft>
                <a:spcPts val="0"/>
              </a:spcAft>
              <a:buClr>
                <a:schemeClr val="dk1"/>
              </a:buClr>
              <a:buSzPts val="1100"/>
              <a:buFont typeface="Arial"/>
              <a:buNone/>
            </a:pPr>
            <a:r>
              <a:rPr b="1" lang="de-DE" sz="1300"/>
              <a:t>Environment-Agnostic (36.4%):</a:t>
            </a:r>
            <a:r>
              <a:rPr lang="de-DE" sz="1300"/>
              <a:t> Focuses on modularity and generalizability, treating the neural-symbolic interface as a standalone architectural challenge.</a:t>
            </a:r>
            <a:endParaRPr sz="1300"/>
          </a:p>
          <a:p>
            <a:pPr indent="0" lvl="0" marL="0" rtl="0" algn="l">
              <a:spcBef>
                <a:spcPts val="0"/>
              </a:spcBef>
              <a:spcAft>
                <a:spcPts val="0"/>
              </a:spcAft>
              <a:buClr>
                <a:schemeClr val="dk1"/>
              </a:buClr>
              <a:buSzPts val="1100"/>
              <a:buFont typeface="Arial"/>
              <a:buNone/>
            </a:pPr>
            <a:r>
              <a:rPr b="1" lang="de-DE" sz="1300"/>
              <a:t>Industry Disconnect (BPM/RPA):</a:t>
            </a:r>
            <a:r>
              <a:rPr lang="de-DE" sz="1300"/>
              <a:t> Only 3.6% of papers focus on business process management. Despite industry demand for "Cognitive RPA," academic research in this area is currently underserved.</a:t>
            </a:r>
            <a:endParaRPr sz="1300"/>
          </a:p>
          <a:p>
            <a:pPr indent="0" lvl="0" marL="0" rtl="0" algn="l">
              <a:spcBef>
                <a:spcPts val="0"/>
              </a:spcBef>
              <a:spcAft>
                <a:spcPts val="0"/>
              </a:spcAft>
              <a:buClr>
                <a:schemeClr val="dk1"/>
              </a:buClr>
              <a:buSzPts val="1100"/>
              <a:buFont typeface="Arial"/>
              <a:buNone/>
            </a:pPr>
            <a:r>
              <a:rPr b="1" lang="de-DE" sz="1300"/>
              <a:t>Niche Applications (7.3%):</a:t>
            </a:r>
            <a:r>
              <a:rPr lang="de-DE" sz="1300"/>
              <a:t> Limited focus on specialized domains like narrative planning and dialogue management, which remain peripheral to the core research effort.</a:t>
            </a:r>
            <a:endParaRPr sz="1300"/>
          </a:p>
          <a:p>
            <a:pPr indent="0" lvl="0" marL="0" rtl="0" algn="l">
              <a:spcBef>
                <a:spcPts val="0"/>
              </a:spcBef>
              <a:spcAft>
                <a:spcPts val="0"/>
              </a:spcAft>
              <a:buClr>
                <a:schemeClr val="dk1"/>
              </a:buClr>
              <a:buSzPts val="1100"/>
              <a:buFont typeface="Arial"/>
              <a:buNone/>
            </a:pPr>
            <a:r>
              <a:t/>
            </a:r>
            <a:endParaRPr sz="1300"/>
          </a:p>
        </p:txBody>
      </p:sp>
      <p:sp>
        <p:nvSpPr>
          <p:cNvPr id="192" name="Google Shape;192;p27"/>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193" name="Google Shape;193;p27"/>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194" name="Google Shape;194;p27"/>
          <p:cNvSpPr txBox="1"/>
          <p:nvPr>
            <p:ph type="title"/>
          </p:nvPr>
        </p:nvSpPr>
        <p:spPr>
          <a:xfrm>
            <a:off x="319090" y="994334"/>
            <a:ext cx="8508900" cy="9543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3.2.2 RQ2 - Automation Paradigms of Hybrid Architectures</a:t>
            </a:r>
            <a:endParaRPr/>
          </a:p>
        </p:txBody>
      </p:sp>
      <p:pic>
        <p:nvPicPr>
          <p:cNvPr id="195" name="Google Shape;195;p27" title="Gràfic"/>
          <p:cNvPicPr preferRelativeResize="0"/>
          <p:nvPr/>
        </p:nvPicPr>
        <p:blipFill>
          <a:blip r:embed="rId3">
            <a:alphaModFix/>
          </a:blip>
          <a:stretch>
            <a:fillRect/>
          </a:stretch>
        </p:blipFill>
        <p:spPr>
          <a:xfrm>
            <a:off x="319100" y="1948625"/>
            <a:ext cx="5734050" cy="2009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01" name="Google Shape;201;p28"/>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02" name="Google Shape;202;p28"/>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3.3.1 RQ3 - </a:t>
            </a:r>
            <a:r>
              <a:rPr lang="de-DE"/>
              <a:t>Neural Architectural Classes</a:t>
            </a:r>
            <a:endParaRPr/>
          </a:p>
        </p:txBody>
      </p:sp>
      <p:sp>
        <p:nvSpPr>
          <p:cNvPr id="203" name="Google Shape;203;p28"/>
          <p:cNvSpPr txBox="1"/>
          <p:nvPr/>
        </p:nvSpPr>
        <p:spPr>
          <a:xfrm>
            <a:off x="5898641" y="1737620"/>
            <a:ext cx="3008400" cy="4357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b="1" lang="de-DE" sz="1200">
                <a:solidFill>
                  <a:srgbClr val="000000"/>
                </a:solidFill>
              </a:rPr>
              <a:t>Foundational Models (FM) as "Semantic Engines":</a:t>
            </a:r>
            <a:endParaRPr b="1" sz="1200">
              <a:solidFill>
                <a:srgbClr val="000000"/>
              </a:solidFill>
            </a:endParaRPr>
          </a:p>
          <a:p>
            <a:pPr indent="-304800" lvl="0" marL="457200" rtl="0" algn="l">
              <a:lnSpc>
                <a:spcPct val="115000"/>
              </a:lnSpc>
              <a:spcBef>
                <a:spcPts val="1200"/>
              </a:spcBef>
              <a:spcAft>
                <a:spcPts val="0"/>
              </a:spcAft>
              <a:buClr>
                <a:srgbClr val="000000"/>
              </a:buClr>
              <a:buSzPts val="1200"/>
              <a:buChar char="●"/>
            </a:pPr>
            <a:r>
              <a:rPr lang="de-DE" sz="1200">
                <a:solidFill>
                  <a:srgbClr val="000000"/>
                </a:solidFill>
              </a:rPr>
              <a:t>Act as generalists translating unstructured data into high-level abstractions rather than raw perception </a:t>
            </a:r>
            <a:r>
              <a:rPr lang="de-DE" sz="1200" u="sng">
                <a:solidFill>
                  <a:schemeClr val="hlink"/>
                </a:solidFill>
                <a:hlinkClick r:id="rId3"/>
              </a:rPr>
              <a:t>(Kwon, M. et al. 2025).</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de-DE" sz="1200">
                <a:solidFill>
                  <a:srgbClr val="000000"/>
                </a:solidFill>
              </a:rPr>
              <a:t>Key drivers for </a:t>
            </a:r>
            <a:r>
              <a:rPr b="1" lang="de-DE" sz="1200">
                <a:solidFill>
                  <a:srgbClr val="000000"/>
                </a:solidFill>
              </a:rPr>
              <a:t>Explainability (46.2%)</a:t>
            </a:r>
            <a:r>
              <a:rPr lang="de-DE" sz="1200">
                <a:solidFill>
                  <a:srgbClr val="000000"/>
                </a:solidFill>
              </a:rPr>
              <a:t> and mitigating </a:t>
            </a:r>
            <a:r>
              <a:rPr b="1" lang="de-DE" sz="1200">
                <a:solidFill>
                  <a:srgbClr val="000000"/>
                </a:solidFill>
              </a:rPr>
              <a:t>Long-Horizon Failure (38.5%)</a:t>
            </a:r>
            <a:r>
              <a:rPr lang="de-DE" sz="1200">
                <a:solidFill>
                  <a:srgbClr val="000000"/>
                </a:solidFill>
              </a:rPr>
              <a:t>.</a:t>
            </a:r>
            <a:endParaRPr sz="1200">
              <a:solidFill>
                <a:srgbClr val="000000"/>
              </a:solidFill>
            </a:endParaRPr>
          </a:p>
          <a:p>
            <a:pPr indent="0" lvl="0" marL="0" rtl="0" algn="l">
              <a:lnSpc>
                <a:spcPct val="115000"/>
              </a:lnSpc>
              <a:spcBef>
                <a:spcPts val="1200"/>
              </a:spcBef>
              <a:spcAft>
                <a:spcPts val="0"/>
              </a:spcAft>
              <a:buNone/>
            </a:pPr>
            <a:r>
              <a:rPr b="1" lang="de-DE" sz="1200">
                <a:solidFill>
                  <a:srgbClr val="000000"/>
                </a:solidFill>
              </a:rPr>
              <a:t>Generative &amp; Predictive Models:</a:t>
            </a:r>
            <a:endParaRPr sz="1200">
              <a:solidFill>
                <a:srgbClr val="000000"/>
              </a:solidFill>
            </a:endParaRPr>
          </a:p>
          <a:p>
            <a:pPr indent="-304800" lvl="0" marL="457200" rtl="0" algn="l">
              <a:lnSpc>
                <a:spcPct val="115000"/>
              </a:lnSpc>
              <a:spcBef>
                <a:spcPts val="1200"/>
              </a:spcBef>
              <a:spcAft>
                <a:spcPts val="0"/>
              </a:spcAft>
              <a:buClr>
                <a:srgbClr val="000000"/>
              </a:buClr>
              <a:buSzPts val="1200"/>
              <a:buChar char="●"/>
            </a:pPr>
            <a:r>
              <a:rPr lang="de-DE" sz="1200">
                <a:solidFill>
                  <a:srgbClr val="000000"/>
                </a:solidFill>
              </a:rPr>
              <a:t>Managing environmental ambiguity and state-estimation (</a:t>
            </a:r>
            <a:r>
              <a:rPr lang="de-DE" sz="1200" u="sng">
                <a:solidFill>
                  <a:schemeClr val="hlink"/>
                </a:solidFill>
                <a:hlinkClick r:id="rId4"/>
              </a:rPr>
              <a:t>Gupta, J. et al. 2024</a:t>
            </a:r>
            <a:r>
              <a:rPr lang="de-DE" sz="1200">
                <a:solidFill>
                  <a:srgbClr val="000000"/>
                </a:solidFill>
              </a:rPr>
              <a:t>).</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de-DE" sz="1200">
                <a:solidFill>
                  <a:schemeClr val="dk1"/>
                </a:solidFill>
              </a:rPr>
              <a:t>Highly specialized for </a:t>
            </a:r>
            <a:r>
              <a:rPr b="1" lang="de-DE" sz="1200">
                <a:solidFill>
                  <a:schemeClr val="dk1"/>
                </a:solidFill>
              </a:rPr>
              <a:t>Unstructured Environments (61.5%)</a:t>
            </a:r>
            <a:r>
              <a:rPr lang="de-DE" sz="1200">
                <a:solidFill>
                  <a:schemeClr val="dk1"/>
                </a:solidFill>
              </a:rPr>
              <a:t>.</a:t>
            </a:r>
            <a:endParaRPr sz="1200"/>
          </a:p>
        </p:txBody>
      </p:sp>
      <p:pic>
        <p:nvPicPr>
          <p:cNvPr id="204" name="Google Shape;204;p28"/>
          <p:cNvPicPr preferRelativeResize="0"/>
          <p:nvPr/>
        </p:nvPicPr>
        <p:blipFill rotWithShape="1">
          <a:blip r:embed="rId5">
            <a:alphaModFix/>
          </a:blip>
          <a:srcRect b="0" l="0" r="5339" t="0"/>
          <a:stretch/>
        </p:blipFill>
        <p:spPr>
          <a:xfrm>
            <a:off x="319100" y="1745700"/>
            <a:ext cx="5576875" cy="33665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10" name="Google Shape;210;p29"/>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11" name="Google Shape;211;p29"/>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3.3.1 RQ3 - Neural Architectural Classes</a:t>
            </a:r>
            <a:endParaRPr/>
          </a:p>
        </p:txBody>
      </p:sp>
      <p:sp>
        <p:nvSpPr>
          <p:cNvPr id="212" name="Google Shape;212;p29"/>
          <p:cNvSpPr txBox="1"/>
          <p:nvPr/>
        </p:nvSpPr>
        <p:spPr>
          <a:xfrm>
            <a:off x="5888025" y="1790700"/>
            <a:ext cx="3008400" cy="4357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b="1" lang="de-DE" sz="1200">
                <a:solidFill>
                  <a:srgbClr val="000000"/>
                </a:solidFill>
              </a:rPr>
              <a:t>Discriminative &amp; Perception Models:</a:t>
            </a:r>
            <a:endParaRPr b="1" sz="1200">
              <a:solidFill>
                <a:srgbClr val="000000"/>
              </a:solidFill>
            </a:endParaRPr>
          </a:p>
          <a:p>
            <a:pPr indent="-304800" lvl="0" marL="457200" rtl="0" algn="l">
              <a:lnSpc>
                <a:spcPct val="115000"/>
              </a:lnSpc>
              <a:spcBef>
                <a:spcPts val="1200"/>
              </a:spcBef>
              <a:spcAft>
                <a:spcPts val="0"/>
              </a:spcAft>
              <a:buClr>
                <a:srgbClr val="000000"/>
              </a:buClr>
              <a:buSzPts val="1200"/>
              <a:buChar char="●"/>
            </a:pPr>
            <a:r>
              <a:rPr lang="de-DE" sz="1200">
                <a:solidFill>
                  <a:srgbClr val="000000"/>
                </a:solidFill>
              </a:rPr>
              <a:t>Focus on reducing </a:t>
            </a:r>
            <a:r>
              <a:rPr b="1" lang="de-DE" sz="1200">
                <a:solidFill>
                  <a:srgbClr val="000000"/>
                </a:solidFill>
              </a:rPr>
              <a:t>Brittleness (50.0%)</a:t>
            </a:r>
            <a:r>
              <a:rPr lang="de-DE" sz="1200">
                <a:solidFill>
                  <a:srgbClr val="000000"/>
                </a:solidFill>
              </a:rPr>
              <a:t> and handling </a:t>
            </a:r>
            <a:r>
              <a:rPr b="1" lang="de-DE" sz="1200">
                <a:solidFill>
                  <a:srgbClr val="000000"/>
                </a:solidFill>
              </a:rPr>
              <a:t>Unstructured Environments (41.7%)</a:t>
            </a:r>
            <a:r>
              <a:rPr lang="de-DE" sz="1200">
                <a:solidFill>
                  <a:srgbClr val="000000"/>
                </a:solidFill>
              </a:rPr>
              <a:t>.</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de-DE" sz="1200">
                <a:solidFill>
                  <a:srgbClr val="000000"/>
                </a:solidFill>
              </a:rPr>
              <a:t>Utilize non-linear sensor fusion to approximate the state of the world.</a:t>
            </a:r>
            <a:endParaRPr sz="1200">
              <a:solidFill>
                <a:srgbClr val="000000"/>
              </a:solidFill>
            </a:endParaRPr>
          </a:p>
          <a:p>
            <a:pPr indent="0" lvl="0" marL="0" rtl="0" algn="l">
              <a:lnSpc>
                <a:spcPct val="115000"/>
              </a:lnSpc>
              <a:spcBef>
                <a:spcPts val="1200"/>
              </a:spcBef>
              <a:spcAft>
                <a:spcPts val="1200"/>
              </a:spcAft>
              <a:buNone/>
            </a:pPr>
            <a:r>
              <a:rPr b="1" lang="de-DE" sz="1200">
                <a:solidFill>
                  <a:srgbClr val="000000"/>
                </a:solidFill>
              </a:rPr>
              <a:t>Division of Labor:</a:t>
            </a:r>
            <a:r>
              <a:rPr lang="de-DE" sz="1200">
                <a:solidFill>
                  <a:srgbClr val="000000"/>
                </a:solidFill>
              </a:rPr>
              <a:t> A clear architectural pattern where neural models handle high-level translation and sensing, while symbolic components manage the logic (</a:t>
            </a:r>
            <a:r>
              <a:rPr lang="de-DE" sz="1200" u="sng">
                <a:solidFill>
                  <a:schemeClr val="hlink"/>
                </a:solidFill>
                <a:hlinkClick r:id="rId3"/>
              </a:rPr>
              <a:t>Nam, C. et al. 2020</a:t>
            </a:r>
            <a:r>
              <a:rPr lang="de-DE" sz="1200">
                <a:solidFill>
                  <a:srgbClr val="000000"/>
                </a:solidFill>
              </a:rPr>
              <a:t>).</a:t>
            </a:r>
            <a:endParaRPr sz="1200">
              <a:solidFill>
                <a:srgbClr val="595959"/>
              </a:solidFill>
            </a:endParaRPr>
          </a:p>
        </p:txBody>
      </p:sp>
      <p:pic>
        <p:nvPicPr>
          <p:cNvPr id="213" name="Google Shape;213;p29"/>
          <p:cNvPicPr preferRelativeResize="0"/>
          <p:nvPr/>
        </p:nvPicPr>
        <p:blipFill rotWithShape="1">
          <a:blip r:embed="rId4">
            <a:alphaModFix/>
          </a:blip>
          <a:srcRect b="0" l="0" r="5339" t="0"/>
          <a:stretch/>
        </p:blipFill>
        <p:spPr>
          <a:xfrm>
            <a:off x="311150" y="1745700"/>
            <a:ext cx="5576875" cy="336659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19" name="Google Shape;219;p30"/>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20" name="Google Shape;220;p30"/>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a:t>
            </a:r>
            <a:r>
              <a:rPr lang="de-DE"/>
              <a:t>1</a:t>
            </a:r>
            <a:r>
              <a:rPr lang="de-DE"/>
              <a:t> RQ3 - Neural Architectural Classes</a:t>
            </a:r>
            <a:endParaRPr/>
          </a:p>
        </p:txBody>
      </p:sp>
      <p:sp>
        <p:nvSpPr>
          <p:cNvPr id="221" name="Google Shape;221;p30"/>
          <p:cNvSpPr txBox="1"/>
          <p:nvPr/>
        </p:nvSpPr>
        <p:spPr>
          <a:xfrm>
            <a:off x="5930500" y="2086700"/>
            <a:ext cx="28275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b="1" lang="de-DE">
                <a:solidFill>
                  <a:srgbClr val="000000"/>
                </a:solidFill>
              </a:rPr>
              <a:t>Reliance on Volatile Memory:</a:t>
            </a:r>
            <a:r>
              <a:rPr lang="de-DE">
                <a:solidFill>
                  <a:srgbClr val="000000"/>
                </a:solidFill>
              </a:rPr>
              <a:t> ~40% of Foundation Models (FM) rely on </a:t>
            </a:r>
            <a:r>
              <a:rPr b="1" lang="de-DE">
                <a:solidFill>
                  <a:srgbClr val="000000"/>
                </a:solidFill>
              </a:rPr>
              <a:t>Working Memory</a:t>
            </a:r>
            <a:r>
              <a:rPr lang="de-DE">
                <a:solidFill>
                  <a:srgbClr val="000000"/>
                </a:solidFill>
              </a:rPr>
              <a:t> (</a:t>
            </a:r>
            <a:r>
              <a:rPr lang="de-DE"/>
              <a:t>context windows</a:t>
            </a:r>
            <a:r>
              <a:rPr lang="de-DE">
                <a:solidFill>
                  <a:srgbClr val="000000"/>
                </a:solidFill>
              </a:rPr>
              <a:t>) rather than durable anchors.</a:t>
            </a:r>
            <a:endParaRPr>
              <a:solidFill>
                <a:srgbClr val="000000"/>
              </a:solidFill>
            </a:endParaRPr>
          </a:p>
          <a:p>
            <a:pPr indent="0" lvl="0" marL="0" rtl="0" algn="l">
              <a:lnSpc>
                <a:spcPct val="115000"/>
              </a:lnSpc>
              <a:spcBef>
                <a:spcPts val="1200"/>
              </a:spcBef>
              <a:spcAft>
                <a:spcPts val="1200"/>
              </a:spcAft>
              <a:buNone/>
            </a:pPr>
            <a:r>
              <a:rPr b="1" lang="de-DE">
                <a:solidFill>
                  <a:srgbClr val="000000"/>
                </a:solidFill>
              </a:rPr>
              <a:t>Durability Risk:</a:t>
            </a:r>
            <a:r>
              <a:rPr lang="de-DE">
                <a:solidFill>
                  <a:srgbClr val="000000"/>
                </a:solidFill>
              </a:rPr>
              <a:t> Dependence on transient context windows creates a "Fragility Gap," threatening the reliability of extended, long-horizon tasks (</a:t>
            </a:r>
            <a:r>
              <a:rPr lang="de-DE" u="sng">
                <a:solidFill>
                  <a:schemeClr val="hlink"/>
                </a:solidFill>
                <a:hlinkClick r:id="rId3"/>
              </a:rPr>
              <a:t>Kane, B. et al. 2022</a:t>
            </a:r>
            <a:r>
              <a:rPr lang="de-DE"/>
              <a:t>)</a:t>
            </a:r>
            <a:r>
              <a:rPr lang="de-DE">
                <a:solidFill>
                  <a:srgbClr val="000000"/>
                </a:solidFill>
              </a:rPr>
              <a:t>.</a:t>
            </a:r>
            <a:endParaRPr>
              <a:solidFill>
                <a:srgbClr val="595959"/>
              </a:solidFill>
            </a:endParaRPr>
          </a:p>
        </p:txBody>
      </p:sp>
      <p:pic>
        <p:nvPicPr>
          <p:cNvPr id="222" name="Google Shape;222;p30"/>
          <p:cNvPicPr preferRelativeResize="0"/>
          <p:nvPr/>
        </p:nvPicPr>
        <p:blipFill rotWithShape="1">
          <a:blip r:embed="rId4">
            <a:alphaModFix/>
          </a:blip>
          <a:srcRect b="0" l="0" r="3204" t="0"/>
          <a:stretch/>
        </p:blipFill>
        <p:spPr>
          <a:xfrm>
            <a:off x="237375" y="1951950"/>
            <a:ext cx="5550250" cy="3819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1"/>
          <p:cNvPicPr preferRelativeResize="0"/>
          <p:nvPr/>
        </p:nvPicPr>
        <p:blipFill rotWithShape="1">
          <a:blip r:embed="rId3">
            <a:alphaModFix/>
          </a:blip>
          <a:srcRect b="0" l="0" r="5714" t="0"/>
          <a:stretch/>
        </p:blipFill>
        <p:spPr>
          <a:xfrm>
            <a:off x="319100" y="2012375"/>
            <a:ext cx="5859475" cy="3551150"/>
          </a:xfrm>
          <a:prstGeom prst="rect">
            <a:avLst/>
          </a:prstGeom>
          <a:noFill/>
          <a:ln>
            <a:noFill/>
          </a:ln>
        </p:spPr>
      </p:pic>
      <p:sp>
        <p:nvSpPr>
          <p:cNvPr id="228" name="Google Shape;228;p31"/>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29" name="Google Shape;229;p31"/>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30" name="Google Shape;230;p31"/>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3.3.2 RQ3 - </a:t>
            </a:r>
            <a:r>
              <a:rPr lang="de-DE" sz="2800"/>
              <a:t>Symbolic Architectural Mechanisms</a:t>
            </a:r>
            <a:endParaRPr/>
          </a:p>
        </p:txBody>
      </p:sp>
      <p:sp>
        <p:nvSpPr>
          <p:cNvPr id="231" name="Google Shape;231;p31"/>
          <p:cNvSpPr txBox="1"/>
          <p:nvPr/>
        </p:nvSpPr>
        <p:spPr>
          <a:xfrm>
            <a:off x="6291950" y="2012375"/>
            <a:ext cx="2541900" cy="420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de-DE" sz="1100">
                <a:solidFill>
                  <a:srgbClr val="000000"/>
                </a:solidFill>
              </a:rPr>
              <a:t>Classical Planning:</a:t>
            </a:r>
            <a:endParaRPr b="1" sz="1100">
              <a:solidFill>
                <a:srgbClr val="000000"/>
              </a:solidFill>
            </a:endParaRPr>
          </a:p>
          <a:p>
            <a:pPr indent="-298450" lvl="0" marL="457200" rtl="0" algn="l">
              <a:lnSpc>
                <a:spcPct val="115000"/>
              </a:lnSpc>
              <a:spcBef>
                <a:spcPts val="1200"/>
              </a:spcBef>
              <a:spcAft>
                <a:spcPts val="0"/>
              </a:spcAft>
              <a:buClr>
                <a:srgbClr val="000000"/>
              </a:buClr>
              <a:buSzPts val="1100"/>
              <a:buChar char="●"/>
            </a:pPr>
            <a:r>
              <a:rPr lang="de-DE" sz="1100">
                <a:solidFill>
                  <a:schemeClr val="dk1"/>
                </a:solidFill>
              </a:rPr>
              <a:t>Highest affinity for </a:t>
            </a:r>
            <a:r>
              <a:rPr b="1" lang="de-DE" sz="1100">
                <a:solidFill>
                  <a:schemeClr val="dk1"/>
                </a:solidFill>
              </a:rPr>
              <a:t>Unstructured Environments (59%)</a:t>
            </a:r>
            <a:r>
              <a:rPr lang="de-DE" sz="1100">
                <a:solidFill>
                  <a:schemeClr val="dk1"/>
                </a:solidFill>
              </a:rPr>
              <a:t> and </a:t>
            </a:r>
            <a:r>
              <a:rPr b="1" lang="de-DE" sz="1100">
                <a:solidFill>
                  <a:schemeClr val="dk1"/>
                </a:solidFill>
              </a:rPr>
              <a:t>Long-Horizon Failure (45%)</a:t>
            </a:r>
            <a:r>
              <a:rPr lang="de-DE"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rgbClr val="000000"/>
              </a:buClr>
              <a:buSzPts val="1100"/>
              <a:buChar char="●"/>
            </a:pPr>
            <a:r>
              <a:rPr lang="de-DE" sz="1100">
                <a:solidFill>
                  <a:srgbClr val="000000"/>
                </a:solidFill>
              </a:rPr>
              <a:t>Primary tool for maintaining </a:t>
            </a:r>
            <a:r>
              <a:rPr b="1" lang="de-DE" sz="1100">
                <a:solidFill>
                  <a:srgbClr val="000000"/>
                </a:solidFill>
              </a:rPr>
              <a:t>logical consistency</a:t>
            </a:r>
            <a:r>
              <a:rPr lang="de-DE" sz="1100">
                <a:solidFill>
                  <a:srgbClr val="000000"/>
                </a:solidFill>
              </a:rPr>
              <a:t> over extended temporal scales (</a:t>
            </a:r>
            <a:r>
              <a:rPr lang="de-DE" sz="1100" u="sng">
                <a:solidFill>
                  <a:schemeClr val="hlink"/>
                </a:solidFill>
                <a:hlinkClick r:id="rId4"/>
              </a:rPr>
              <a:t>Dagan, G. et al. 2023</a:t>
            </a:r>
            <a:r>
              <a:rPr lang="de-DE" sz="1100">
                <a:solidFill>
                  <a:srgbClr val="000000"/>
                </a:solidFill>
              </a:rPr>
              <a:t>).</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Cognitive Architectures:</a:t>
            </a:r>
            <a:endParaRPr b="1" sz="1100">
              <a:solidFill>
                <a:srgbClr val="000000"/>
              </a:solidFill>
            </a:endParaRPr>
          </a:p>
          <a:p>
            <a:pPr indent="-298450" lvl="0" marL="457200" rtl="0" algn="l">
              <a:lnSpc>
                <a:spcPct val="115000"/>
              </a:lnSpc>
              <a:spcBef>
                <a:spcPts val="1200"/>
              </a:spcBef>
              <a:spcAft>
                <a:spcPts val="0"/>
              </a:spcAft>
              <a:buClr>
                <a:srgbClr val="000000"/>
              </a:buClr>
              <a:buSzPts val="1100"/>
              <a:buChar char="●"/>
            </a:pPr>
            <a:r>
              <a:rPr lang="de-DE" sz="1100">
                <a:solidFill>
                  <a:srgbClr val="000000"/>
                </a:solidFill>
              </a:rPr>
              <a:t>Specialized for </a:t>
            </a:r>
            <a:r>
              <a:rPr b="1" lang="de-DE" sz="1100">
                <a:solidFill>
                  <a:srgbClr val="000000"/>
                </a:solidFill>
              </a:rPr>
              <a:t>Explainability (62.5%)</a:t>
            </a:r>
            <a:r>
              <a:rPr lang="de-DE" sz="1100">
                <a:solidFill>
                  <a:srgbClr val="000000"/>
                </a:solidFill>
              </a:rPr>
              <a:t>.</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lang="de-DE" sz="1100">
                <a:solidFill>
                  <a:srgbClr val="000000"/>
                </a:solidFill>
              </a:rPr>
              <a:t>Utilized to provide intentionality and transparency to agent behavior (</a:t>
            </a:r>
            <a:r>
              <a:rPr lang="de-DE" sz="1100" u="sng">
                <a:solidFill>
                  <a:schemeClr val="hlink"/>
                </a:solidFill>
                <a:hlinkClick r:id="rId5"/>
              </a:rPr>
              <a:t>Chaput, R et a</a:t>
            </a:r>
            <a:r>
              <a:rPr lang="de-DE" sz="1100" u="sng">
                <a:solidFill>
                  <a:schemeClr val="hlink"/>
                </a:solidFill>
                <a:hlinkClick r:id="rId6"/>
              </a:rPr>
              <a:t>l. 2021</a:t>
            </a:r>
            <a:r>
              <a:rPr lang="de-DE" sz="1100">
                <a:solidFill>
                  <a:srgbClr val="000000"/>
                </a:solidFill>
              </a:rPr>
              <a:t>).</a:t>
            </a:r>
            <a:endParaRPr sz="1100">
              <a:solidFill>
                <a:srgbClr val="59595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32"/>
          <p:cNvPicPr preferRelativeResize="0"/>
          <p:nvPr/>
        </p:nvPicPr>
        <p:blipFill rotWithShape="1">
          <a:blip r:embed="rId3">
            <a:alphaModFix/>
          </a:blip>
          <a:srcRect b="0" l="0" r="5714" t="0"/>
          <a:stretch/>
        </p:blipFill>
        <p:spPr>
          <a:xfrm>
            <a:off x="319100" y="2012375"/>
            <a:ext cx="5859475" cy="3551150"/>
          </a:xfrm>
          <a:prstGeom prst="rect">
            <a:avLst/>
          </a:prstGeom>
          <a:noFill/>
          <a:ln>
            <a:noFill/>
          </a:ln>
        </p:spPr>
      </p:pic>
      <p:sp>
        <p:nvSpPr>
          <p:cNvPr id="237" name="Google Shape;237;p32"/>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38" name="Google Shape;238;p32"/>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39" name="Google Shape;239;p32"/>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3.3.2 RQ3 - </a:t>
            </a:r>
            <a:r>
              <a:rPr lang="de-DE" sz="2800"/>
              <a:t>Symbolic Architectural Mechanisms</a:t>
            </a:r>
            <a:endParaRPr/>
          </a:p>
        </p:txBody>
      </p:sp>
      <p:sp>
        <p:nvSpPr>
          <p:cNvPr id="240" name="Google Shape;240;p32"/>
          <p:cNvSpPr txBox="1"/>
          <p:nvPr/>
        </p:nvSpPr>
        <p:spPr>
          <a:xfrm>
            <a:off x="6291950" y="2012375"/>
            <a:ext cx="2541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de-DE" sz="1100">
                <a:solidFill>
                  <a:srgbClr val="000000"/>
                </a:solidFill>
              </a:rPr>
              <a:t>Knowledge Representation (KR):</a:t>
            </a:r>
            <a:endParaRPr b="1" sz="1100">
              <a:solidFill>
                <a:srgbClr val="000000"/>
              </a:solidFill>
            </a:endParaRPr>
          </a:p>
          <a:p>
            <a:pPr indent="-298450" lvl="0" marL="457200" rtl="0" algn="l">
              <a:lnSpc>
                <a:spcPct val="115000"/>
              </a:lnSpc>
              <a:spcBef>
                <a:spcPts val="1200"/>
              </a:spcBef>
              <a:spcAft>
                <a:spcPts val="0"/>
              </a:spcAft>
              <a:buClr>
                <a:srgbClr val="000000"/>
              </a:buClr>
              <a:buSzPts val="1100"/>
              <a:buChar char="●"/>
            </a:pPr>
            <a:r>
              <a:rPr lang="de-DE" sz="1100">
                <a:solidFill>
                  <a:schemeClr val="dk1"/>
                </a:solidFill>
              </a:rPr>
              <a:t>A</a:t>
            </a:r>
            <a:r>
              <a:rPr lang="de-DE" sz="1100">
                <a:solidFill>
                  <a:schemeClr val="dk1"/>
                </a:solidFill>
              </a:rPr>
              <a:t>ffinity for </a:t>
            </a:r>
            <a:r>
              <a:rPr b="1" lang="de-DE" sz="1100">
                <a:solidFill>
                  <a:schemeClr val="dk1"/>
                </a:solidFill>
              </a:rPr>
              <a:t>Unstructured Environments (45.5%)</a:t>
            </a:r>
            <a:r>
              <a:rPr lang="de-DE" sz="1100">
                <a:solidFill>
                  <a:schemeClr val="dk1"/>
                </a:solidFill>
              </a:rPr>
              <a:t> and </a:t>
            </a:r>
            <a:r>
              <a:rPr b="1" lang="de-DE" sz="1100">
                <a:solidFill>
                  <a:schemeClr val="dk1"/>
                </a:solidFill>
              </a:rPr>
              <a:t>Long-Horizon Failure (36.4 %)</a:t>
            </a:r>
            <a:r>
              <a:rPr lang="de-DE" sz="1100">
                <a:solidFill>
                  <a:schemeClr val="dk1"/>
                </a:solidFill>
              </a:rPr>
              <a:t>.</a:t>
            </a:r>
            <a:endParaRPr sz="1000"/>
          </a:p>
          <a:p>
            <a:pPr indent="-298450" lvl="0" marL="457200" rtl="0" algn="l">
              <a:lnSpc>
                <a:spcPct val="115000"/>
              </a:lnSpc>
              <a:spcBef>
                <a:spcPts val="0"/>
              </a:spcBef>
              <a:spcAft>
                <a:spcPts val="0"/>
              </a:spcAft>
              <a:buClr>
                <a:srgbClr val="000000"/>
              </a:buClr>
              <a:buSzPts val="1100"/>
              <a:buChar char="●"/>
            </a:pPr>
            <a:r>
              <a:rPr lang="de-DE" sz="1100">
                <a:solidFill>
                  <a:srgbClr val="000000"/>
                </a:solidFill>
              </a:rPr>
              <a:t>Provides Foundational Models with a </a:t>
            </a:r>
            <a:r>
              <a:rPr b="1" lang="de-DE" sz="1100">
                <a:solidFill>
                  <a:srgbClr val="000000"/>
                </a:solidFill>
              </a:rPr>
              <a:t>stable ontology</a:t>
            </a:r>
            <a:r>
              <a:rPr lang="de-DE" sz="1100">
                <a:solidFill>
                  <a:srgbClr val="000000"/>
                </a:solidFill>
              </a:rPr>
              <a:t>.</a:t>
            </a:r>
            <a:r>
              <a:rPr lang="de-DE" sz="1100"/>
              <a:t> </a:t>
            </a:r>
            <a:r>
              <a:rPr lang="de-DE" sz="1100">
                <a:solidFill>
                  <a:srgbClr val="000000"/>
                </a:solidFill>
              </a:rPr>
              <a:t>Prevents reliance on raw latent representations by offering a queryable, structured environment map (</a:t>
            </a:r>
            <a:r>
              <a:rPr lang="de-DE" sz="1100" u="sng">
                <a:solidFill>
                  <a:schemeClr val="hlink"/>
                </a:solidFill>
                <a:hlinkClick r:id="rId4"/>
              </a:rPr>
              <a:t>Ciatto, G. et al. 2021</a:t>
            </a:r>
            <a:r>
              <a:rPr lang="de-DE" sz="1100">
                <a:solidFill>
                  <a:srgbClr val="000000"/>
                </a:solidFill>
              </a:rPr>
              <a:t>).</a:t>
            </a:r>
            <a:endParaRPr sz="1100">
              <a:solidFill>
                <a:srgbClr val="59595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marR="0" rtl="0" algn="l">
              <a:lnSpc>
                <a:spcPct val="106666"/>
              </a:lnSpc>
              <a:spcBef>
                <a:spcPts val="0"/>
              </a:spcBef>
              <a:spcAft>
                <a:spcPts val="0"/>
              </a:spcAft>
              <a:buClr>
                <a:srgbClr val="000000"/>
              </a:buClr>
              <a:buFont typeface="Arial"/>
              <a:buNone/>
            </a:pPr>
            <a:r>
              <a:rPr lang="de-DE" sz="3000">
                <a:solidFill>
                  <a:schemeClr val="dk1"/>
                </a:solidFill>
              </a:rPr>
              <a:t>RQ3 - Symbolic Architectural Mechanisms</a:t>
            </a:r>
            <a:endParaRPr/>
          </a:p>
        </p:txBody>
      </p:sp>
      <p:pic>
        <p:nvPicPr>
          <p:cNvPr id="246" name="Google Shape;246;p33"/>
          <p:cNvPicPr preferRelativeResize="0"/>
          <p:nvPr/>
        </p:nvPicPr>
        <p:blipFill>
          <a:blip r:embed="rId3">
            <a:alphaModFix/>
          </a:blip>
          <a:stretch>
            <a:fillRect/>
          </a:stretch>
        </p:blipFill>
        <p:spPr>
          <a:xfrm>
            <a:off x="311700" y="2292250"/>
            <a:ext cx="6418900" cy="3667950"/>
          </a:xfrm>
          <a:prstGeom prst="rect">
            <a:avLst/>
          </a:prstGeom>
          <a:noFill/>
          <a:ln>
            <a:noFill/>
          </a:ln>
        </p:spPr>
      </p:pic>
      <p:sp>
        <p:nvSpPr>
          <p:cNvPr id="247" name="Google Shape;247;p33"/>
          <p:cNvSpPr txBox="1"/>
          <p:nvPr>
            <p:ph idx="1" type="body"/>
          </p:nvPr>
        </p:nvSpPr>
        <p:spPr>
          <a:xfrm>
            <a:off x="6390900" y="2651575"/>
            <a:ext cx="2441400" cy="2949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de-DE" sz="1200">
                <a:solidFill>
                  <a:schemeClr val="dk1"/>
                </a:solidFill>
              </a:rPr>
              <a:t>Secondary Priority:</a:t>
            </a:r>
            <a:r>
              <a:rPr lang="de-DE" sz="1200">
                <a:solidFill>
                  <a:schemeClr val="dk1"/>
                </a:solidFill>
              </a:rPr>
              <a:t> Despite being a primary driver for hybrid models, safety is often treated as a "byproduct" of execution rather than a core architectural focus.</a:t>
            </a:r>
            <a:endParaRPr sz="1200">
              <a:solidFill>
                <a:schemeClr val="dk1"/>
              </a:solidFill>
            </a:endParaRPr>
          </a:p>
          <a:p>
            <a:pPr indent="0" lvl="0" marL="0" rtl="0" algn="l">
              <a:spcBef>
                <a:spcPts val="1200"/>
              </a:spcBef>
              <a:spcAft>
                <a:spcPts val="0"/>
              </a:spcAft>
              <a:buNone/>
            </a:pPr>
            <a:r>
              <a:rPr b="1" lang="de-DE" sz="1200">
                <a:solidFill>
                  <a:schemeClr val="dk1"/>
                </a:solidFill>
              </a:rPr>
              <a:t>Logic vs. Safety:</a:t>
            </a:r>
            <a:r>
              <a:rPr lang="de-DE" sz="1200">
                <a:solidFill>
                  <a:schemeClr val="dk1"/>
                </a:solidFill>
              </a:rPr>
              <a:t> Symbolic layers are currently prioritized for </a:t>
            </a:r>
            <a:r>
              <a:rPr b="1" lang="de-DE" sz="1200">
                <a:solidFill>
                  <a:schemeClr val="dk1"/>
                </a:solidFill>
              </a:rPr>
              <a:t>logical task completion</a:t>
            </a:r>
            <a:r>
              <a:rPr lang="de-DE" sz="1200">
                <a:solidFill>
                  <a:schemeClr val="dk1"/>
                </a:solidFill>
              </a:rPr>
              <a:t>, leaving a significant gap in dedicated safety-first design.</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4"/>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53" name="Google Shape;253;p34"/>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54" name="Google Shape;254;p34"/>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3.3.2 RQ3 - </a:t>
            </a:r>
            <a:r>
              <a:rPr lang="de-DE" sz="2800"/>
              <a:t>Symbolic Architectural Mechanisms</a:t>
            </a:r>
            <a:endParaRPr/>
          </a:p>
        </p:txBody>
      </p:sp>
      <p:sp>
        <p:nvSpPr>
          <p:cNvPr id="255" name="Google Shape;255;p34"/>
          <p:cNvSpPr txBox="1"/>
          <p:nvPr/>
        </p:nvSpPr>
        <p:spPr>
          <a:xfrm>
            <a:off x="6359050" y="2097300"/>
            <a:ext cx="24687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de-DE" sz="1200">
                <a:solidFill>
                  <a:srgbClr val="000000"/>
                </a:solidFill>
              </a:rPr>
              <a:t>Generalist Trap:</a:t>
            </a:r>
            <a:r>
              <a:rPr lang="de-DE" sz="1200">
                <a:solidFill>
                  <a:srgbClr val="000000"/>
                </a:solidFill>
              </a:rPr>
              <a:t> Industry requires "bulletproof" compliance, but research currently relies on </a:t>
            </a:r>
            <a:r>
              <a:rPr b="1" lang="de-DE" sz="1200">
                <a:solidFill>
                  <a:srgbClr val="000000"/>
                </a:solidFill>
              </a:rPr>
              <a:t>general-purpose rule-based logic</a:t>
            </a:r>
            <a:r>
              <a:rPr lang="de-DE" sz="1200">
                <a:solidFill>
                  <a:srgbClr val="000000"/>
                </a:solidFill>
              </a:rPr>
              <a:t> rather than specialized safety-critical reasoning.</a:t>
            </a:r>
            <a:endParaRPr sz="1200">
              <a:solidFill>
                <a:srgbClr val="000000"/>
              </a:solidFill>
            </a:endParaRPr>
          </a:p>
          <a:p>
            <a:pPr indent="0" lvl="0" marL="0" rtl="0" algn="l">
              <a:lnSpc>
                <a:spcPct val="115000"/>
              </a:lnSpc>
              <a:spcBef>
                <a:spcPts val="1200"/>
              </a:spcBef>
              <a:spcAft>
                <a:spcPts val="1200"/>
              </a:spcAft>
              <a:buNone/>
            </a:pPr>
            <a:r>
              <a:rPr b="1" lang="de-DE" sz="1200">
                <a:solidFill>
                  <a:srgbClr val="000000"/>
                </a:solidFill>
              </a:rPr>
              <a:t>The Compliance Gap:</a:t>
            </a:r>
            <a:r>
              <a:rPr lang="de-DE" sz="1200">
                <a:solidFill>
                  <a:srgbClr val="000000"/>
                </a:solidFill>
              </a:rPr>
              <a:t> Safety is treated as a broad logical exercise rather than a dedicated architectural constraint, creating a misalignment between academic "logic" and industrial "verification."</a:t>
            </a:r>
            <a:endParaRPr sz="1200">
              <a:solidFill>
                <a:srgbClr val="595959"/>
              </a:solidFill>
            </a:endParaRPr>
          </a:p>
        </p:txBody>
      </p:sp>
      <p:pic>
        <p:nvPicPr>
          <p:cNvPr id="256" name="Google Shape;256;p34"/>
          <p:cNvPicPr preferRelativeResize="0"/>
          <p:nvPr/>
        </p:nvPicPr>
        <p:blipFill rotWithShape="1">
          <a:blip r:embed="rId3">
            <a:alphaModFix/>
          </a:blip>
          <a:srcRect b="0" l="0" r="3269" t="0"/>
          <a:stretch/>
        </p:blipFill>
        <p:spPr>
          <a:xfrm>
            <a:off x="311150" y="1895750"/>
            <a:ext cx="5962976" cy="4106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62" name="Google Shape;262;p35"/>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63" name="Google Shape;263;p35"/>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3.3.3 RQ3 - </a:t>
            </a:r>
            <a:r>
              <a:rPr lang="de-DE" sz="2800"/>
              <a:t>Neuro-Symbolic Architectural Interfaces</a:t>
            </a:r>
            <a:endParaRPr sz="2800"/>
          </a:p>
        </p:txBody>
      </p:sp>
      <p:sp>
        <p:nvSpPr>
          <p:cNvPr id="264" name="Google Shape;264;p35"/>
          <p:cNvSpPr txBox="1"/>
          <p:nvPr/>
        </p:nvSpPr>
        <p:spPr>
          <a:xfrm>
            <a:off x="5986125" y="1788175"/>
            <a:ext cx="28884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de-DE" sz="1100">
                <a:solidFill>
                  <a:srgbClr val="000000"/>
                </a:solidFill>
              </a:rPr>
              <a:t>FM + Classical Planning (Translation):</a:t>
            </a:r>
            <a:r>
              <a:rPr lang="de-DE" sz="1100">
                <a:solidFill>
                  <a:srgbClr val="000000"/>
                </a:solidFill>
              </a:rPr>
              <a:t> The most common pattern; utilizes the </a:t>
            </a:r>
            <a:r>
              <a:rPr b="1" lang="de-DE" sz="1100">
                <a:solidFill>
                  <a:srgbClr val="000000"/>
                </a:solidFill>
              </a:rPr>
              <a:t>Neural model as a semantic front-end</a:t>
            </a:r>
            <a:r>
              <a:rPr lang="de-DE" sz="1100">
                <a:solidFill>
                  <a:srgbClr val="000000"/>
                </a:solidFill>
              </a:rPr>
              <a:t> to convert intent into rigid symbolic action languages, preventing hallucinations.</a:t>
            </a:r>
            <a:endParaRPr sz="1100">
              <a:solidFill>
                <a:srgbClr val="000000"/>
              </a:solidFill>
            </a:endParaRPr>
          </a:p>
          <a:p>
            <a:pPr indent="0" lvl="0" marL="0" rtl="0" algn="l">
              <a:lnSpc>
                <a:spcPct val="115000"/>
              </a:lnSpc>
              <a:spcBef>
                <a:spcPts val="1200"/>
              </a:spcBef>
              <a:spcAft>
                <a:spcPts val="0"/>
              </a:spcAft>
              <a:buNone/>
            </a:pPr>
            <a:r>
              <a:rPr b="1" lang="de-DE" sz="1100"/>
              <a:t>GEN</a:t>
            </a:r>
            <a:r>
              <a:rPr b="1" lang="de-DE" sz="1100">
                <a:solidFill>
                  <a:srgbClr val="000000"/>
                </a:solidFill>
              </a:rPr>
              <a:t> + Formal Logic (Verification):</a:t>
            </a:r>
            <a:r>
              <a:rPr lang="de-DE" sz="1100">
                <a:solidFill>
                  <a:srgbClr val="000000"/>
                </a:solidFill>
              </a:rPr>
              <a:t> A "generative-verification" loop where </a:t>
            </a:r>
            <a:r>
              <a:rPr b="1" lang="de-DE" sz="1100">
                <a:solidFill>
                  <a:srgbClr val="000000"/>
                </a:solidFill>
              </a:rPr>
              <a:t>neural models propose solutions</a:t>
            </a:r>
            <a:r>
              <a:rPr lang="de-DE" sz="1100">
                <a:solidFill>
                  <a:srgbClr val="000000"/>
                </a:solidFill>
              </a:rPr>
              <a:t> that are then validated against mathematical or temporal guardrails.</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FM + Knowledge Representation (Grounding):</a:t>
            </a:r>
            <a:r>
              <a:rPr lang="de-DE" sz="1100">
                <a:solidFill>
                  <a:srgbClr val="000000"/>
                </a:solidFill>
              </a:rPr>
              <a:t> Uses </a:t>
            </a:r>
            <a:r>
              <a:rPr b="1" lang="de-DE" sz="1100">
                <a:solidFill>
                  <a:srgbClr val="000000"/>
                </a:solidFill>
              </a:rPr>
              <a:t>Symbolic Knowledge Injection (SKI)</a:t>
            </a:r>
            <a:r>
              <a:rPr lang="de-DE" sz="1100">
                <a:solidFill>
                  <a:srgbClr val="000000"/>
                </a:solidFill>
              </a:rPr>
              <a:t> to anchor neural models in a stable ontology, ensuring logical consistency.</a:t>
            </a:r>
            <a:endParaRPr sz="1100">
              <a:solidFill>
                <a:srgbClr val="000000"/>
              </a:solidFill>
            </a:endParaRPr>
          </a:p>
          <a:p>
            <a:pPr indent="0" lvl="0" marL="0" rtl="0" algn="l">
              <a:lnSpc>
                <a:spcPct val="115000"/>
              </a:lnSpc>
              <a:spcBef>
                <a:spcPts val="1200"/>
              </a:spcBef>
              <a:spcAft>
                <a:spcPts val="1200"/>
              </a:spcAft>
              <a:buNone/>
            </a:pPr>
            <a:r>
              <a:rPr b="1" lang="de-DE" sz="1100">
                <a:solidFill>
                  <a:srgbClr val="000000"/>
                </a:solidFill>
              </a:rPr>
              <a:t>RL + Cognitive Architectures (Intentionality):</a:t>
            </a:r>
            <a:r>
              <a:rPr lang="de-DE" sz="1100">
                <a:solidFill>
                  <a:srgbClr val="000000"/>
                </a:solidFill>
              </a:rPr>
              <a:t> Employs symbolic frameworks to manage the "mental state" of agents during reinforcement learning, providing </a:t>
            </a:r>
            <a:r>
              <a:rPr b="1" lang="de-DE" sz="1100">
                <a:solidFill>
                  <a:srgbClr val="000000"/>
                </a:solidFill>
              </a:rPr>
              <a:t>scrutability to policy optimization.</a:t>
            </a:r>
            <a:endParaRPr sz="1100">
              <a:solidFill>
                <a:srgbClr val="595959"/>
              </a:solidFill>
            </a:endParaRPr>
          </a:p>
        </p:txBody>
      </p:sp>
      <p:pic>
        <p:nvPicPr>
          <p:cNvPr id="265" name="Google Shape;265;p35"/>
          <p:cNvPicPr preferRelativeResize="0"/>
          <p:nvPr/>
        </p:nvPicPr>
        <p:blipFill rotWithShape="1">
          <a:blip r:embed="rId3">
            <a:alphaModFix/>
          </a:blip>
          <a:srcRect b="0" l="0" r="4988" t="0"/>
          <a:stretch/>
        </p:blipFill>
        <p:spPr>
          <a:xfrm>
            <a:off x="319100" y="1757350"/>
            <a:ext cx="5448199" cy="3343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71" name="Google Shape;271;p36"/>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72" name="Google Shape;272;p36"/>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3.3.3 RQ3 - </a:t>
            </a:r>
            <a:r>
              <a:rPr lang="de-DE" sz="2800"/>
              <a:t>Neuro-Symbolic Architectural Interfaces</a:t>
            </a:r>
            <a:endParaRPr sz="2800"/>
          </a:p>
        </p:txBody>
      </p:sp>
      <p:sp>
        <p:nvSpPr>
          <p:cNvPr id="273" name="Google Shape;273;p36"/>
          <p:cNvSpPr txBox="1"/>
          <p:nvPr/>
        </p:nvSpPr>
        <p:spPr>
          <a:xfrm>
            <a:off x="5986125" y="1788175"/>
            <a:ext cx="28884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de-DE" sz="1100">
                <a:solidFill>
                  <a:srgbClr val="000000"/>
                </a:solidFill>
              </a:rPr>
              <a:t>Generative Models + Planning/Execution (Orchestration):</a:t>
            </a:r>
            <a:r>
              <a:rPr lang="de-DE" sz="1100">
                <a:solidFill>
                  <a:srgbClr val="000000"/>
                </a:solidFill>
              </a:rPr>
              <a:t> Act as </a:t>
            </a:r>
            <a:r>
              <a:rPr b="1" lang="de-DE" sz="1100">
                <a:solidFill>
                  <a:srgbClr val="000000"/>
                </a:solidFill>
              </a:rPr>
              <a:t>mid-level orchestrators</a:t>
            </a:r>
            <a:r>
              <a:rPr lang="de-DE" sz="1100">
                <a:solidFill>
                  <a:srgbClr val="000000"/>
                </a:solidFill>
              </a:rPr>
              <a:t>, breaking down high-level goals into subgoals for search algorithms or real-time control loops.</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Identified Structural Gap:</a:t>
            </a:r>
            <a:r>
              <a:rPr lang="de-DE" sz="1100">
                <a:solidFill>
                  <a:srgbClr val="000000"/>
                </a:solidFill>
              </a:rPr>
              <a:t> High-level mental modeling (Cognitive Architectures) is rarely connected to raw perception; it remains </a:t>
            </a:r>
            <a:r>
              <a:rPr b="1" lang="de-DE" sz="1100">
                <a:solidFill>
                  <a:srgbClr val="000000"/>
                </a:solidFill>
              </a:rPr>
              <a:t>mediated by planning or logic layers.</a:t>
            </a:r>
            <a:endParaRPr b="1" sz="1100">
              <a:solidFill>
                <a:srgbClr val="000000"/>
              </a:solidFill>
            </a:endParaRPr>
          </a:p>
          <a:p>
            <a:pPr indent="0" lvl="0" marL="0" rtl="0" algn="l">
              <a:lnSpc>
                <a:spcPct val="115000"/>
              </a:lnSpc>
              <a:spcBef>
                <a:spcPts val="1200"/>
              </a:spcBef>
              <a:spcAft>
                <a:spcPts val="1200"/>
              </a:spcAft>
              <a:buNone/>
            </a:pPr>
            <a:r>
              <a:rPr b="1" lang="de-DE" sz="1100">
                <a:solidFill>
                  <a:srgbClr val="000000"/>
                </a:solidFill>
              </a:rPr>
              <a:t>Core Engineering Focus:</a:t>
            </a:r>
            <a:r>
              <a:rPr lang="de-DE" sz="1100">
                <a:solidFill>
                  <a:srgbClr val="000000"/>
                </a:solidFill>
              </a:rPr>
              <a:t> Current research is primarily centered on </a:t>
            </a:r>
            <a:r>
              <a:rPr b="1" lang="de-DE" sz="1100">
                <a:solidFill>
                  <a:srgbClr val="000000"/>
                </a:solidFill>
              </a:rPr>
              <a:t>Translation, Grounding, and Verification</a:t>
            </a:r>
            <a:r>
              <a:rPr lang="de-DE" sz="1100">
                <a:solidFill>
                  <a:srgbClr val="000000"/>
                </a:solidFill>
              </a:rPr>
              <a:t> pipelines.</a:t>
            </a:r>
            <a:endParaRPr sz="1100">
              <a:solidFill>
                <a:srgbClr val="595959"/>
              </a:solidFill>
            </a:endParaRPr>
          </a:p>
        </p:txBody>
      </p:sp>
      <p:pic>
        <p:nvPicPr>
          <p:cNvPr id="274" name="Google Shape;274;p36"/>
          <p:cNvPicPr preferRelativeResize="0"/>
          <p:nvPr/>
        </p:nvPicPr>
        <p:blipFill rotWithShape="1">
          <a:blip r:embed="rId3">
            <a:alphaModFix/>
          </a:blip>
          <a:srcRect b="0" l="0" r="4988" t="0"/>
          <a:stretch/>
        </p:blipFill>
        <p:spPr>
          <a:xfrm>
            <a:off x="319100" y="1757350"/>
            <a:ext cx="5448199" cy="3343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80" name="Google Shape;280;p37"/>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81" name="Google Shape;281;p37"/>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3.3.4 RQ3 - </a:t>
            </a:r>
            <a:r>
              <a:rPr lang="de-DE" sz="2800"/>
              <a:t>Agent Configurations</a:t>
            </a:r>
            <a:endParaRPr sz="2800"/>
          </a:p>
        </p:txBody>
      </p:sp>
      <p:sp>
        <p:nvSpPr>
          <p:cNvPr id="282" name="Google Shape;282;p37"/>
          <p:cNvSpPr txBox="1"/>
          <p:nvPr/>
        </p:nvSpPr>
        <p:spPr>
          <a:xfrm>
            <a:off x="5534825" y="1821275"/>
            <a:ext cx="32967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de-DE" sz="1100">
                <a:solidFill>
                  <a:srgbClr val="000000"/>
                </a:solidFill>
              </a:rPr>
              <a:t>Single-Agent Dominance (68%):</a:t>
            </a:r>
            <a:r>
              <a:rPr lang="de-DE" sz="1100">
                <a:solidFill>
                  <a:srgbClr val="000000"/>
                </a:solidFill>
              </a:rPr>
              <a:t> Centered on centralized architectures due to lower implementation complexity.</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MAS &amp; Explainability (50%):</a:t>
            </a:r>
            <a:r>
              <a:rPr lang="de-DE" sz="1100">
                <a:solidFill>
                  <a:srgbClr val="000000"/>
                </a:solidFill>
              </a:rPr>
              <a:t> Multi-Agent Systems are prioritized to solve the "black-box" problem through role-based decomposition </a:t>
            </a:r>
            <a:r>
              <a:rPr lang="de-DE" sz="1100">
                <a:solidFill>
                  <a:schemeClr val="dk1"/>
                </a:solidFill>
              </a:rPr>
              <a:t>(</a:t>
            </a:r>
            <a:r>
              <a:rPr lang="de-DE" sz="1100" u="sng">
                <a:solidFill>
                  <a:schemeClr val="hlink"/>
                </a:solidFill>
                <a:hlinkClick r:id="rId3"/>
              </a:rPr>
              <a:t>Sadowski, A. &amp; Chudziak, J.A. 2025</a:t>
            </a:r>
            <a:r>
              <a:rPr lang="de-DE" sz="1100">
                <a:solidFill>
                  <a:schemeClr val="dk1"/>
                </a:solidFill>
              </a:rPr>
              <a:t>)</a:t>
            </a:r>
            <a:r>
              <a:rPr lang="de-DE" sz="1100">
                <a:solidFill>
                  <a:srgbClr val="000000"/>
                </a:solidFill>
              </a:rPr>
              <a:t>.</a:t>
            </a:r>
            <a:endParaRPr sz="1100">
              <a:solidFill>
                <a:srgbClr val="000000"/>
              </a:solidFill>
            </a:endParaRPr>
          </a:p>
          <a:p>
            <a:pPr indent="0" lvl="0" marL="0" rtl="0" algn="l">
              <a:lnSpc>
                <a:spcPct val="115000"/>
              </a:lnSpc>
              <a:spcBef>
                <a:spcPts val="1200"/>
              </a:spcBef>
              <a:spcAft>
                <a:spcPts val="0"/>
              </a:spcAft>
              <a:buNone/>
            </a:pPr>
            <a:r>
              <a:rPr b="1" lang="de-DE" sz="1100">
                <a:solidFill>
                  <a:srgbClr val="000000"/>
                </a:solidFill>
              </a:rPr>
              <a:t>The "Actor-Auditor" Pattern:</a:t>
            </a:r>
            <a:endParaRPr b="1" sz="1100">
              <a:solidFill>
                <a:srgbClr val="000000"/>
              </a:solidFill>
            </a:endParaRPr>
          </a:p>
          <a:p>
            <a:pPr indent="-298450" lvl="0" marL="457200" rtl="0" algn="l">
              <a:lnSpc>
                <a:spcPct val="115000"/>
              </a:lnSpc>
              <a:spcBef>
                <a:spcPts val="1200"/>
              </a:spcBef>
              <a:spcAft>
                <a:spcPts val="0"/>
              </a:spcAft>
              <a:buClr>
                <a:srgbClr val="000000"/>
              </a:buClr>
              <a:buSzPts val="1100"/>
              <a:buChar char="●"/>
            </a:pPr>
            <a:r>
              <a:rPr lang="de-DE" sz="1100">
                <a:solidFill>
                  <a:srgbClr val="000000"/>
                </a:solidFill>
              </a:rPr>
              <a:t>Compliance is treated as an </a:t>
            </a:r>
            <a:r>
              <a:rPr b="1" lang="de-DE" sz="1100">
                <a:solidFill>
                  <a:srgbClr val="000000"/>
                </a:solidFill>
              </a:rPr>
              <a:t>external auditing task</a:t>
            </a:r>
            <a:r>
              <a:rPr lang="de-DE" sz="1100">
                <a:solidFill>
                  <a:srgbClr val="000000"/>
                </a:solidFill>
              </a:rPr>
              <a:t> rather than an internal constraint.</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lang="de-DE" sz="1100">
                <a:solidFill>
                  <a:srgbClr val="000000"/>
                </a:solidFill>
              </a:rPr>
              <a:t>Decentralized monitoring and communication traces provide the transparency that symbolic logic alone cannot yet guarantee.</a:t>
            </a:r>
            <a:endParaRPr sz="1100">
              <a:solidFill>
                <a:srgbClr val="595959"/>
              </a:solidFill>
            </a:endParaRPr>
          </a:p>
        </p:txBody>
      </p:sp>
      <p:pic>
        <p:nvPicPr>
          <p:cNvPr id="283" name="Google Shape;283;p37"/>
          <p:cNvPicPr preferRelativeResize="0"/>
          <p:nvPr/>
        </p:nvPicPr>
        <p:blipFill>
          <a:blip r:embed="rId4">
            <a:alphaModFix/>
          </a:blip>
          <a:stretch>
            <a:fillRect/>
          </a:stretch>
        </p:blipFill>
        <p:spPr>
          <a:xfrm>
            <a:off x="311150" y="1686525"/>
            <a:ext cx="5019575" cy="4010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8"/>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89" name="Google Shape;289;p38"/>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90" name="Google Shape;290;p38"/>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3.3.4 RQ3 - </a:t>
            </a:r>
            <a:r>
              <a:rPr lang="de-DE" sz="2800"/>
              <a:t>Agent Configurations</a:t>
            </a:r>
            <a:endParaRPr sz="2800"/>
          </a:p>
        </p:txBody>
      </p:sp>
      <p:sp>
        <p:nvSpPr>
          <p:cNvPr id="291" name="Google Shape;291;p38"/>
          <p:cNvSpPr txBox="1"/>
          <p:nvPr/>
        </p:nvSpPr>
        <p:spPr>
          <a:xfrm>
            <a:off x="5534825" y="1821275"/>
            <a:ext cx="32967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de-DE" sz="1100">
                <a:solidFill>
                  <a:srgbClr val="000000"/>
                </a:solidFill>
              </a:rPr>
              <a:t>Addressing the Safety Gap:</a:t>
            </a:r>
            <a:r>
              <a:rPr lang="de-DE" sz="1100">
                <a:solidFill>
                  <a:srgbClr val="000000"/>
                </a:solidFill>
              </a:rPr>
              <a:t> MAS fills the "Logical-Safety Gap" by providing explicit oversight and behavioral traces.</a:t>
            </a:r>
            <a:endParaRPr sz="1100">
              <a:solidFill>
                <a:srgbClr val="000000"/>
              </a:solidFill>
            </a:endParaRPr>
          </a:p>
          <a:p>
            <a:pPr indent="0" lvl="0" marL="0" rtl="0" algn="l">
              <a:lnSpc>
                <a:spcPct val="115000"/>
              </a:lnSpc>
              <a:spcBef>
                <a:spcPts val="1200"/>
              </a:spcBef>
              <a:spcAft>
                <a:spcPts val="1200"/>
              </a:spcAft>
              <a:buNone/>
            </a:pPr>
            <a:r>
              <a:rPr b="1" lang="de-DE" sz="1100">
                <a:solidFill>
                  <a:srgbClr val="000000"/>
                </a:solidFill>
              </a:rPr>
              <a:t>Internal Brittleness:</a:t>
            </a:r>
            <a:r>
              <a:rPr lang="de-DE" sz="1100">
                <a:solidFill>
                  <a:srgbClr val="000000"/>
                </a:solidFill>
              </a:rPr>
              <a:t> Single-agent systems report higher </a:t>
            </a:r>
            <a:r>
              <a:rPr b="1" lang="de-DE" sz="1100">
                <a:solidFill>
                  <a:srgbClr val="000000"/>
                </a:solidFill>
              </a:rPr>
              <a:t>brittleness (36.8%)</a:t>
            </a:r>
            <a:r>
              <a:rPr lang="de-DE" sz="1100">
                <a:solidFill>
                  <a:srgbClr val="000000"/>
                </a:solidFill>
              </a:rPr>
              <a:t>, suggesting that the fragility of neuro-symbolic integration is currently seen as an internal failure of individual agent logic.</a:t>
            </a:r>
            <a:endParaRPr sz="1100">
              <a:solidFill>
                <a:srgbClr val="595959"/>
              </a:solidFill>
            </a:endParaRPr>
          </a:p>
        </p:txBody>
      </p:sp>
      <p:pic>
        <p:nvPicPr>
          <p:cNvPr id="292" name="Google Shape;292;p38"/>
          <p:cNvPicPr preferRelativeResize="0"/>
          <p:nvPr/>
        </p:nvPicPr>
        <p:blipFill>
          <a:blip r:embed="rId3">
            <a:alphaModFix/>
          </a:blip>
          <a:stretch>
            <a:fillRect/>
          </a:stretch>
        </p:blipFill>
        <p:spPr>
          <a:xfrm>
            <a:off x="311150" y="1686525"/>
            <a:ext cx="5019575" cy="4010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9"/>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298" name="Google Shape;298;p39"/>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299" name="Google Shape;299;p39"/>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3.3.5 RQ3 - </a:t>
            </a:r>
            <a:r>
              <a:rPr lang="de-DE" sz="2800"/>
              <a:t>Memory Types</a:t>
            </a:r>
            <a:endParaRPr/>
          </a:p>
        </p:txBody>
      </p:sp>
      <p:sp>
        <p:nvSpPr>
          <p:cNvPr id="300" name="Google Shape;300;p39"/>
          <p:cNvSpPr txBox="1"/>
          <p:nvPr/>
        </p:nvSpPr>
        <p:spPr>
          <a:xfrm>
            <a:off x="5902788" y="2224700"/>
            <a:ext cx="29295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b="1" lang="de-DE" sz="1200">
                <a:solidFill>
                  <a:srgbClr val="000000"/>
                </a:solidFill>
              </a:rPr>
              <a:t>Working Memory Baseline:</a:t>
            </a:r>
            <a:r>
              <a:rPr lang="de-DE" sz="1200">
                <a:solidFill>
                  <a:srgbClr val="000000"/>
                </a:solidFill>
              </a:rPr>
              <a:t> Primarily used for FM context management; highlights a gap in architectures that decouple long-term planning from volatile prompt windows.</a:t>
            </a:r>
            <a:endParaRPr sz="1200">
              <a:solidFill>
                <a:srgbClr val="000000"/>
              </a:solidFill>
            </a:endParaRPr>
          </a:p>
          <a:p>
            <a:pPr indent="0" lvl="0" marL="0" rtl="0" algn="l">
              <a:lnSpc>
                <a:spcPct val="115000"/>
              </a:lnSpc>
              <a:spcBef>
                <a:spcPts val="1200"/>
              </a:spcBef>
              <a:spcAft>
                <a:spcPts val="1200"/>
              </a:spcAft>
              <a:buNone/>
            </a:pPr>
            <a:r>
              <a:rPr b="1" lang="de-DE" sz="1200">
                <a:solidFill>
                  <a:srgbClr val="000000"/>
                </a:solidFill>
              </a:rPr>
              <a:t>Semantic Memory for Explainability (55.6%):</a:t>
            </a:r>
            <a:r>
              <a:rPr lang="de-DE" sz="1200">
                <a:solidFill>
                  <a:srgbClr val="000000"/>
                </a:solidFill>
              </a:rPr>
              <a:t> Acts as a factual anchor, grounding neural outputs in stable ontologies to provide transparency (</a:t>
            </a:r>
            <a:r>
              <a:rPr lang="de-DE" sz="1100" u="sng">
                <a:solidFill>
                  <a:schemeClr val="hlink"/>
                </a:solidFill>
                <a:hlinkClick r:id="rId3"/>
              </a:rPr>
              <a:t>Sadowski, A. &amp; Chudziak, J.A. 2025</a:t>
            </a:r>
            <a:r>
              <a:rPr lang="de-DE" sz="1200">
                <a:solidFill>
                  <a:srgbClr val="000000"/>
                </a:solidFill>
              </a:rPr>
              <a:t>).</a:t>
            </a:r>
            <a:endParaRPr sz="1200">
              <a:solidFill>
                <a:srgbClr val="595959"/>
              </a:solidFill>
            </a:endParaRPr>
          </a:p>
        </p:txBody>
      </p:sp>
      <p:pic>
        <p:nvPicPr>
          <p:cNvPr id="301" name="Google Shape;301;p39"/>
          <p:cNvPicPr preferRelativeResize="0"/>
          <p:nvPr/>
        </p:nvPicPr>
        <p:blipFill rotWithShape="1">
          <a:blip r:embed="rId4">
            <a:alphaModFix/>
          </a:blip>
          <a:srcRect b="0" l="0" r="3920" t="0"/>
          <a:stretch/>
        </p:blipFill>
        <p:spPr>
          <a:xfrm>
            <a:off x="311713" y="2089950"/>
            <a:ext cx="5509426" cy="3276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0"/>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307" name="Google Shape;307;p40"/>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308" name="Google Shape;308;p40"/>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3.3.5 RQ3 - </a:t>
            </a:r>
            <a:r>
              <a:rPr lang="de-DE" sz="2800"/>
              <a:t>Memory Types</a:t>
            </a:r>
            <a:endParaRPr/>
          </a:p>
        </p:txBody>
      </p:sp>
      <p:sp>
        <p:nvSpPr>
          <p:cNvPr id="309" name="Google Shape;309;p40"/>
          <p:cNvSpPr txBox="1"/>
          <p:nvPr/>
        </p:nvSpPr>
        <p:spPr>
          <a:xfrm>
            <a:off x="5902788" y="2224700"/>
            <a:ext cx="29295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b="1" lang="de-DE" sz="1200">
                <a:solidFill>
                  <a:srgbClr val="000000"/>
                </a:solidFill>
              </a:rPr>
              <a:t>The World Model Gap:</a:t>
            </a:r>
            <a:endParaRPr b="1" sz="1200">
              <a:solidFill>
                <a:srgbClr val="000000"/>
              </a:solidFill>
            </a:endParaRPr>
          </a:p>
          <a:p>
            <a:pPr indent="-304800" lvl="0" marL="457200" rtl="0" algn="l">
              <a:lnSpc>
                <a:spcPct val="115000"/>
              </a:lnSpc>
              <a:spcBef>
                <a:spcPts val="1200"/>
              </a:spcBef>
              <a:spcAft>
                <a:spcPts val="0"/>
              </a:spcAft>
              <a:buClr>
                <a:srgbClr val="000000"/>
              </a:buClr>
              <a:buSzPts val="1200"/>
              <a:buChar char="●"/>
            </a:pPr>
            <a:r>
              <a:rPr lang="de-DE" sz="1200">
                <a:solidFill>
                  <a:srgbClr val="000000"/>
                </a:solidFill>
              </a:rPr>
              <a:t>World Models show </a:t>
            </a:r>
            <a:r>
              <a:rPr b="1" lang="de-DE" sz="1200">
                <a:solidFill>
                  <a:srgbClr val="000000"/>
                </a:solidFill>
              </a:rPr>
              <a:t>100% affinity</a:t>
            </a:r>
            <a:r>
              <a:rPr lang="de-DE" sz="1200">
                <a:solidFill>
                  <a:srgbClr val="000000"/>
                </a:solidFill>
              </a:rPr>
              <a:t> for Unstructured Environments and Brittleness.</a:t>
            </a:r>
            <a:endParaRPr sz="1200">
              <a:solidFill>
                <a:srgbClr val="000000"/>
              </a:solidFill>
            </a:endParaRPr>
          </a:p>
          <a:p>
            <a:pPr indent="-304800" lvl="0" marL="457200" rtl="0" algn="l">
              <a:lnSpc>
                <a:spcPct val="115000"/>
              </a:lnSpc>
              <a:spcBef>
                <a:spcPts val="0"/>
              </a:spcBef>
              <a:spcAft>
                <a:spcPts val="0"/>
              </a:spcAft>
              <a:buClr>
                <a:srgbClr val="000000"/>
              </a:buClr>
              <a:buSzPts val="1200"/>
              <a:buChar char="●"/>
            </a:pPr>
            <a:r>
              <a:rPr lang="de-DE" sz="1200">
                <a:solidFill>
                  <a:srgbClr val="000000"/>
                </a:solidFill>
              </a:rPr>
              <a:t>Crucially, they show </a:t>
            </a:r>
            <a:r>
              <a:rPr b="1" lang="de-DE" sz="1200">
                <a:solidFill>
                  <a:srgbClr val="000000"/>
                </a:solidFill>
              </a:rPr>
              <a:t>0% affinity</a:t>
            </a:r>
            <a:r>
              <a:rPr lang="de-DE" sz="1200">
                <a:solidFill>
                  <a:srgbClr val="000000"/>
                </a:solidFill>
              </a:rPr>
              <a:t> for Long-Horizon Failure.</a:t>
            </a:r>
            <a:endParaRPr sz="1200">
              <a:solidFill>
                <a:srgbClr val="000000"/>
              </a:solidFill>
            </a:endParaRPr>
          </a:p>
          <a:p>
            <a:pPr indent="0" lvl="0" marL="0" rtl="0" algn="l">
              <a:lnSpc>
                <a:spcPct val="115000"/>
              </a:lnSpc>
              <a:spcBef>
                <a:spcPts val="1200"/>
              </a:spcBef>
              <a:spcAft>
                <a:spcPts val="1200"/>
              </a:spcAft>
              <a:buNone/>
            </a:pPr>
            <a:r>
              <a:rPr b="1" lang="de-DE" sz="1200">
                <a:solidFill>
                  <a:srgbClr val="000000"/>
                </a:solidFill>
              </a:rPr>
              <a:t>Spatial vs. Temporal Grounding:</a:t>
            </a:r>
            <a:r>
              <a:rPr lang="de-DE" sz="1200">
                <a:solidFill>
                  <a:srgbClr val="000000"/>
                </a:solidFill>
              </a:rPr>
              <a:t> Internal simulation is currently used for immediate spatial/semantic reasoning, but is </a:t>
            </a:r>
            <a:r>
              <a:rPr b="1" lang="de-DE" sz="1200">
                <a:solidFill>
                  <a:srgbClr val="000000"/>
                </a:solidFill>
              </a:rPr>
              <a:t>rarely used for proactive, long-term temporal simulation.</a:t>
            </a:r>
            <a:endParaRPr sz="1200">
              <a:solidFill>
                <a:srgbClr val="595959"/>
              </a:solidFill>
            </a:endParaRPr>
          </a:p>
        </p:txBody>
      </p:sp>
      <p:pic>
        <p:nvPicPr>
          <p:cNvPr id="310" name="Google Shape;310;p40"/>
          <p:cNvPicPr preferRelativeResize="0"/>
          <p:nvPr/>
        </p:nvPicPr>
        <p:blipFill rotWithShape="1">
          <a:blip r:embed="rId3">
            <a:alphaModFix/>
          </a:blip>
          <a:srcRect b="0" l="0" r="3920" t="0"/>
          <a:stretch/>
        </p:blipFill>
        <p:spPr>
          <a:xfrm>
            <a:off x="311713" y="2089950"/>
            <a:ext cx="5509426" cy="3276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316" name="Google Shape;316;p41"/>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317" name="Google Shape;317;p41"/>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3.3.6 RQ3 - </a:t>
            </a:r>
            <a:r>
              <a:rPr lang="de-DE" sz="2800"/>
              <a:t>Self-Correction Mechanisms</a:t>
            </a:r>
            <a:endParaRPr/>
          </a:p>
        </p:txBody>
      </p:sp>
      <p:sp>
        <p:nvSpPr>
          <p:cNvPr id="318" name="Google Shape;318;p41"/>
          <p:cNvSpPr txBox="1"/>
          <p:nvPr/>
        </p:nvSpPr>
        <p:spPr>
          <a:xfrm>
            <a:off x="5902325" y="2086675"/>
            <a:ext cx="30723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b="1" lang="de-DE" sz="1200">
                <a:solidFill>
                  <a:srgbClr val="000000"/>
                </a:solidFill>
              </a:rPr>
              <a:t>Intrinsic Reflection (52.9%):</a:t>
            </a:r>
            <a:r>
              <a:rPr lang="de-DE" sz="1200">
                <a:solidFill>
                  <a:srgbClr val="000000"/>
                </a:solidFill>
              </a:rPr>
              <a:t> Preferred for addressing </a:t>
            </a:r>
            <a:r>
              <a:rPr b="1" lang="de-DE" sz="1200">
                <a:solidFill>
                  <a:srgbClr val="000000"/>
                </a:solidFill>
              </a:rPr>
              <a:t>Brittleness</a:t>
            </a:r>
            <a:r>
              <a:rPr lang="de-DE" sz="1200">
                <a:solidFill>
                  <a:srgbClr val="000000"/>
                </a:solidFill>
              </a:rPr>
              <a:t>; uses "metacognitive" loops to resolve edge-case failures internally.</a:t>
            </a:r>
            <a:endParaRPr sz="1200">
              <a:solidFill>
                <a:srgbClr val="000000"/>
              </a:solidFill>
            </a:endParaRPr>
          </a:p>
          <a:p>
            <a:pPr indent="0" lvl="0" marL="0" rtl="0" algn="l">
              <a:lnSpc>
                <a:spcPct val="115000"/>
              </a:lnSpc>
              <a:spcBef>
                <a:spcPts val="1200"/>
              </a:spcBef>
              <a:spcAft>
                <a:spcPts val="0"/>
              </a:spcAft>
              <a:buNone/>
            </a:pPr>
            <a:r>
              <a:rPr b="1" lang="de-DE" sz="1200">
                <a:solidFill>
                  <a:srgbClr val="000000"/>
                </a:solidFill>
              </a:rPr>
              <a:t>Multi-Agent Auditing (60%):</a:t>
            </a:r>
            <a:r>
              <a:rPr lang="de-DE" sz="1200">
                <a:solidFill>
                  <a:srgbClr val="000000"/>
                </a:solidFill>
              </a:rPr>
              <a:t> The primary driver for </a:t>
            </a:r>
            <a:r>
              <a:rPr b="1" lang="de-DE" sz="1200">
                <a:solidFill>
                  <a:srgbClr val="000000"/>
                </a:solidFill>
              </a:rPr>
              <a:t>Explainability</a:t>
            </a:r>
            <a:r>
              <a:rPr lang="de-DE" sz="1200">
                <a:solidFill>
                  <a:srgbClr val="000000"/>
                </a:solidFill>
              </a:rPr>
              <a:t>; provides decentralized oversight and clear behavioral traces for complex execution.</a:t>
            </a:r>
            <a:endParaRPr sz="1200">
              <a:solidFill>
                <a:srgbClr val="000000"/>
              </a:solidFill>
            </a:endParaRPr>
          </a:p>
          <a:p>
            <a:pPr indent="0" lvl="0" marL="0" rtl="0" algn="l">
              <a:lnSpc>
                <a:spcPct val="115000"/>
              </a:lnSpc>
              <a:spcBef>
                <a:spcPts val="1200"/>
              </a:spcBef>
              <a:spcAft>
                <a:spcPts val="1200"/>
              </a:spcAft>
              <a:buNone/>
            </a:pPr>
            <a:r>
              <a:rPr b="1" lang="de-DE" sz="1200">
                <a:solidFill>
                  <a:srgbClr val="000000"/>
                </a:solidFill>
              </a:rPr>
              <a:t>Human-in-the-Loop:</a:t>
            </a:r>
            <a:r>
              <a:rPr lang="de-DE" sz="1200">
                <a:solidFill>
                  <a:srgbClr val="000000"/>
                </a:solidFill>
              </a:rPr>
              <a:t> Remains the standard for </a:t>
            </a:r>
            <a:r>
              <a:rPr b="1" lang="de-DE" sz="1200">
                <a:solidFill>
                  <a:srgbClr val="000000"/>
                </a:solidFill>
              </a:rPr>
              <a:t>Safety &amp; Compliance</a:t>
            </a:r>
            <a:r>
              <a:rPr lang="de-DE" sz="1200">
                <a:solidFill>
                  <a:srgbClr val="000000"/>
                </a:solidFill>
              </a:rPr>
              <a:t>, serving as the essential fallback when automated logic reaches its limits.</a:t>
            </a:r>
            <a:endParaRPr sz="1200">
              <a:solidFill>
                <a:srgbClr val="595959"/>
              </a:solidFill>
            </a:endParaRPr>
          </a:p>
        </p:txBody>
      </p:sp>
      <p:pic>
        <p:nvPicPr>
          <p:cNvPr id="319" name="Google Shape;319;p41"/>
          <p:cNvPicPr preferRelativeResize="0"/>
          <p:nvPr/>
        </p:nvPicPr>
        <p:blipFill rotWithShape="1">
          <a:blip r:embed="rId3">
            <a:alphaModFix/>
          </a:blip>
          <a:srcRect b="0" l="0" r="4626" t="0"/>
          <a:stretch/>
        </p:blipFill>
        <p:spPr>
          <a:xfrm>
            <a:off x="311150" y="2156575"/>
            <a:ext cx="5591174" cy="334996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42"/>
          <p:cNvPicPr preferRelativeResize="0"/>
          <p:nvPr/>
        </p:nvPicPr>
        <p:blipFill rotWithShape="1">
          <a:blip r:embed="rId3">
            <a:alphaModFix/>
          </a:blip>
          <a:srcRect b="0" l="0" r="4988" t="0"/>
          <a:stretch/>
        </p:blipFill>
        <p:spPr>
          <a:xfrm>
            <a:off x="248875" y="2030025"/>
            <a:ext cx="5856575" cy="3522200"/>
          </a:xfrm>
          <a:prstGeom prst="rect">
            <a:avLst/>
          </a:prstGeom>
          <a:noFill/>
          <a:ln>
            <a:noFill/>
          </a:ln>
        </p:spPr>
      </p:pic>
      <p:sp>
        <p:nvSpPr>
          <p:cNvPr id="325" name="Google Shape;325;p42"/>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326" name="Google Shape;326;p42"/>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327" name="Google Shape;327;p42"/>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3.3.7 RQ3 - </a:t>
            </a:r>
            <a:r>
              <a:rPr lang="de-DE" sz="2800"/>
              <a:t>Compliance Reasoning</a:t>
            </a:r>
            <a:endParaRPr/>
          </a:p>
        </p:txBody>
      </p:sp>
      <p:sp>
        <p:nvSpPr>
          <p:cNvPr id="328" name="Google Shape;328;p42"/>
          <p:cNvSpPr txBox="1"/>
          <p:nvPr/>
        </p:nvSpPr>
        <p:spPr>
          <a:xfrm>
            <a:off x="6051164" y="2064200"/>
            <a:ext cx="28761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de-DE" sz="1200">
                <a:solidFill>
                  <a:srgbClr val="000000"/>
                </a:solidFill>
              </a:rPr>
              <a:t>Despite its importance, data on compliance reasoning is sparse across all categories, indicating it is currently under-researched.</a:t>
            </a:r>
            <a:endParaRPr sz="1200">
              <a:solidFill>
                <a:srgbClr val="000000"/>
              </a:solidFill>
            </a:endParaRPr>
          </a:p>
          <a:p>
            <a:pPr indent="0" lvl="0" marL="0" rtl="0" algn="l">
              <a:lnSpc>
                <a:spcPct val="115000"/>
              </a:lnSpc>
              <a:spcBef>
                <a:spcPts val="1200"/>
              </a:spcBef>
              <a:spcAft>
                <a:spcPts val="0"/>
              </a:spcAft>
              <a:buNone/>
            </a:pPr>
            <a:r>
              <a:rPr lang="de-DE" sz="1200">
                <a:solidFill>
                  <a:srgbClr val="000000"/>
                </a:solidFill>
              </a:rPr>
              <a:t>Compliance is primarily handled via general </a:t>
            </a:r>
            <a:r>
              <a:rPr b="1" lang="de-DE" sz="1200">
                <a:solidFill>
                  <a:srgbClr val="000000"/>
                </a:solidFill>
              </a:rPr>
              <a:t>Logic &amp; Rule-Based infrastructure</a:t>
            </a:r>
            <a:r>
              <a:rPr lang="de-DE" sz="1200">
                <a:solidFill>
                  <a:srgbClr val="000000"/>
                </a:solidFill>
              </a:rPr>
              <a:t> rather than specialized, safety-critical reasoning.</a:t>
            </a:r>
            <a:endParaRPr sz="1200">
              <a:solidFill>
                <a:srgbClr val="000000"/>
              </a:solidFill>
            </a:endParaRPr>
          </a:p>
          <a:p>
            <a:pPr indent="0" lvl="0" marL="0" rtl="0" algn="l">
              <a:lnSpc>
                <a:spcPct val="115000"/>
              </a:lnSpc>
              <a:spcBef>
                <a:spcPts val="1200"/>
              </a:spcBef>
              <a:spcAft>
                <a:spcPts val="0"/>
              </a:spcAft>
              <a:buNone/>
            </a:pPr>
            <a:r>
              <a:rPr lang="de-DE" sz="1200">
                <a:solidFill>
                  <a:srgbClr val="000000"/>
                </a:solidFill>
              </a:rPr>
              <a:t>The "flexibility-compliance" dilemma is recognized as a major challenge, but no repeatable, specialized patterns have emerged to solve it beyond traditional symbolic constraints.</a:t>
            </a:r>
            <a:endParaRPr sz="1200">
              <a:solidFill>
                <a:srgbClr val="000000"/>
              </a:solidFill>
            </a:endParaRPr>
          </a:p>
          <a:p>
            <a:pPr indent="0" lvl="0" marL="0" rtl="0" algn="l">
              <a:lnSpc>
                <a:spcPct val="115000"/>
              </a:lnSpc>
              <a:spcBef>
                <a:spcPts val="1200"/>
              </a:spcBef>
              <a:spcAft>
                <a:spcPts val="1200"/>
              </a:spcAft>
              <a:buNone/>
            </a:pPr>
            <a:r>
              <a:t/>
            </a:r>
            <a:endParaRPr b="1" sz="120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3"/>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334" name="Google Shape;334;p43"/>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335" name="Google Shape;335;p43"/>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3.4 </a:t>
            </a:r>
            <a:r>
              <a:rPr lang="de-DE"/>
              <a:t>Quality Assessment</a:t>
            </a:r>
            <a:endParaRPr/>
          </a:p>
        </p:txBody>
      </p:sp>
      <p:sp>
        <p:nvSpPr>
          <p:cNvPr id="336" name="Google Shape;336;p43"/>
          <p:cNvSpPr txBox="1"/>
          <p:nvPr/>
        </p:nvSpPr>
        <p:spPr>
          <a:xfrm>
            <a:off x="6253400" y="1456025"/>
            <a:ext cx="25746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DE"/>
              <a:t>Overall Reliability:</a:t>
            </a:r>
            <a:r>
              <a:rPr lang="de-DE"/>
              <a:t> High standard of reporting with a mean rigor score of 5.30/6.00.</a:t>
            </a:r>
            <a:endParaRPr/>
          </a:p>
          <a:p>
            <a:pPr indent="0" lvl="0" marL="0" rtl="0" algn="l">
              <a:spcBef>
                <a:spcPts val="0"/>
              </a:spcBef>
              <a:spcAft>
                <a:spcPts val="0"/>
              </a:spcAft>
              <a:buNone/>
            </a:pPr>
            <a:r>
              <a:t/>
            </a:r>
            <a:endParaRPr/>
          </a:p>
          <a:p>
            <a:pPr indent="0" lvl="0" marL="0" rtl="0" algn="l">
              <a:spcBef>
                <a:spcPts val="0"/>
              </a:spcBef>
              <a:spcAft>
                <a:spcPts val="0"/>
              </a:spcAft>
              <a:buNone/>
            </a:pPr>
            <a:r>
              <a:rPr b="1" lang="de-DE"/>
              <a:t>Quality Breakdown:</a:t>
            </a:r>
            <a:endParaRPr b="1"/>
          </a:p>
          <a:p>
            <a:pPr indent="-317500" lvl="0" marL="457200" rtl="0" algn="l">
              <a:spcBef>
                <a:spcPts val="0"/>
              </a:spcBef>
              <a:spcAft>
                <a:spcPts val="0"/>
              </a:spcAft>
              <a:buSzPts val="1400"/>
              <a:buChar char="-"/>
            </a:pPr>
            <a:r>
              <a:rPr lang="de-DE">
                <a:solidFill>
                  <a:schemeClr val="dk1"/>
                </a:solidFill>
              </a:rPr>
              <a:t>High Rigor (6/6): 67% (41 studies)</a:t>
            </a:r>
            <a:endParaRPr>
              <a:solidFill>
                <a:schemeClr val="dk1"/>
              </a:solidFill>
            </a:endParaRPr>
          </a:p>
          <a:p>
            <a:pPr indent="-317500" lvl="0" marL="457200" rtl="0" algn="l">
              <a:spcBef>
                <a:spcPts val="0"/>
              </a:spcBef>
              <a:spcAft>
                <a:spcPts val="0"/>
              </a:spcAft>
              <a:buClr>
                <a:schemeClr val="dk1"/>
              </a:buClr>
              <a:buSzPts val="1400"/>
              <a:buChar char="-"/>
            </a:pPr>
            <a:r>
              <a:rPr lang="de-DE">
                <a:solidFill>
                  <a:schemeClr val="dk1"/>
                </a:solidFill>
              </a:rPr>
              <a:t>Limited Rigor (&lt;5/6): ~20% (12 studies)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de-DE"/>
              <a:t>Venue Performance:</a:t>
            </a:r>
            <a:endParaRPr b="1"/>
          </a:p>
          <a:p>
            <a:pPr indent="-317500" lvl="0" marL="457200" rtl="0" algn="l">
              <a:spcBef>
                <a:spcPts val="0"/>
              </a:spcBef>
              <a:spcAft>
                <a:spcPts val="0"/>
              </a:spcAft>
              <a:buSzPts val="1400"/>
              <a:buChar char="-"/>
            </a:pPr>
            <a:r>
              <a:rPr lang="de-DE"/>
              <a:t>AAAI, IROS, and Frontiers maintain perfect 6.00 averages.</a:t>
            </a:r>
            <a:endParaRPr/>
          </a:p>
          <a:p>
            <a:pPr indent="-317500" lvl="0" marL="457200" rtl="0" algn="l">
              <a:spcBef>
                <a:spcPts val="0"/>
              </a:spcBef>
              <a:spcAft>
                <a:spcPts val="0"/>
              </a:spcAft>
              <a:buSzPts val="1400"/>
              <a:buChar char="-"/>
            </a:pPr>
            <a:r>
              <a:rPr lang="de-DE"/>
              <a:t>AAMAS shows the most significant quality fluctuation, with a lower average of 4.38.</a:t>
            </a:r>
            <a:endParaRPr/>
          </a:p>
          <a:p>
            <a:pPr indent="0" lvl="0" marL="0" rtl="0" algn="l">
              <a:spcBef>
                <a:spcPts val="0"/>
              </a:spcBef>
              <a:spcAft>
                <a:spcPts val="0"/>
              </a:spcAft>
              <a:buNone/>
            </a:pPr>
            <a:r>
              <a:t/>
            </a:r>
            <a:endParaRPr/>
          </a:p>
        </p:txBody>
      </p:sp>
      <p:pic>
        <p:nvPicPr>
          <p:cNvPr id="337" name="Google Shape;337;p43"/>
          <p:cNvPicPr preferRelativeResize="0"/>
          <p:nvPr/>
        </p:nvPicPr>
        <p:blipFill rotWithShape="1">
          <a:blip r:embed="rId3">
            <a:alphaModFix/>
          </a:blip>
          <a:srcRect b="4480" l="0" r="0" t="0"/>
          <a:stretch/>
        </p:blipFill>
        <p:spPr>
          <a:xfrm>
            <a:off x="156200" y="2298550"/>
            <a:ext cx="5793251" cy="2771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4"/>
          <p:cNvSpPr txBox="1"/>
          <p:nvPr>
            <p:ph idx="1" type="body"/>
          </p:nvPr>
        </p:nvSpPr>
        <p:spPr>
          <a:xfrm>
            <a:off x="319100" y="1762318"/>
            <a:ext cx="8508900" cy="42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de-DE" sz="1400"/>
              <a:t>Reporting Trends by Research Type:</a:t>
            </a:r>
            <a:endParaRPr b="1" sz="1400"/>
          </a:p>
          <a:p>
            <a:pPr indent="-317500" lvl="0" marL="457200" rtl="0" algn="l">
              <a:lnSpc>
                <a:spcPct val="115000"/>
              </a:lnSpc>
              <a:spcBef>
                <a:spcPts val="1200"/>
              </a:spcBef>
              <a:spcAft>
                <a:spcPts val="0"/>
              </a:spcAft>
              <a:buClr>
                <a:schemeClr val="dk1"/>
              </a:buClr>
              <a:buSzPts val="1400"/>
              <a:buChar char="-"/>
            </a:pPr>
            <a:r>
              <a:rPr lang="de-DE" sz="1400"/>
              <a:t>Quality scores are often a byproduct of the research type (e.g., philosophical papers score lower due to a lack of empirical testing). Critically, nearly all instances of missing results or empirical evidence occur within </a:t>
            </a:r>
            <a:r>
              <a:rPr b="1" lang="de-DE" sz="1400"/>
              <a:t>Solution Proposals</a:t>
            </a:r>
            <a:r>
              <a:rPr lang="de-DE" sz="1400"/>
              <a:t>: New architectures are being introduced faster than they can be rigorously documented or verified.</a:t>
            </a:r>
            <a:endParaRPr sz="1400"/>
          </a:p>
          <a:p>
            <a:pPr indent="0" lvl="0" marL="0" rtl="0" algn="l">
              <a:lnSpc>
                <a:spcPct val="115000"/>
              </a:lnSpc>
              <a:spcBef>
                <a:spcPts val="1200"/>
              </a:spcBef>
              <a:spcAft>
                <a:spcPts val="0"/>
              </a:spcAft>
              <a:buNone/>
            </a:pPr>
            <a:r>
              <a:rPr b="1" lang="de-DE" sz="1400"/>
              <a:t>Analysis of Quality Criteria:</a:t>
            </a:r>
            <a:endParaRPr b="1" sz="1400"/>
          </a:p>
          <a:p>
            <a:pPr indent="-317500" lvl="0" marL="457200" rtl="0" algn="l">
              <a:lnSpc>
                <a:spcPct val="115000"/>
              </a:lnSpc>
              <a:spcBef>
                <a:spcPts val="1200"/>
              </a:spcBef>
              <a:spcAft>
                <a:spcPts val="0"/>
              </a:spcAft>
              <a:buClr>
                <a:schemeClr val="dk1"/>
              </a:buClr>
              <a:buSzPts val="1400"/>
              <a:buChar char="-"/>
            </a:pPr>
            <a:r>
              <a:rPr lang="de-DE" sz="1400"/>
              <a:t>While 92% acknowledge system limitations, only </a:t>
            </a:r>
            <a:r>
              <a:rPr b="1" lang="de-DE" sz="1400"/>
              <a:t>79% identify threats to validity</a:t>
            </a:r>
            <a:r>
              <a:rPr lang="de-DE" sz="1400"/>
              <a:t>, showing a lack of critical reflection on study design. A significant interpretive threat exists where results in </a:t>
            </a:r>
            <a:r>
              <a:rPr b="1" lang="de-DE" sz="1400"/>
              <a:t>3D simulations</a:t>
            </a:r>
            <a:r>
              <a:rPr lang="de-DE" sz="1400"/>
              <a:t> are assumed to generalize to the real world without explicit proof.</a:t>
            </a:r>
            <a:endParaRPr sz="1400"/>
          </a:p>
          <a:p>
            <a:pPr indent="0" lvl="0" marL="0" rtl="0" algn="l">
              <a:lnSpc>
                <a:spcPct val="115000"/>
              </a:lnSpc>
              <a:spcBef>
                <a:spcPts val="1200"/>
              </a:spcBef>
              <a:spcAft>
                <a:spcPts val="0"/>
              </a:spcAft>
              <a:buNone/>
            </a:pPr>
            <a:r>
              <a:rPr lang="de-DE" sz="1400"/>
              <a:t>I</a:t>
            </a:r>
            <a:r>
              <a:rPr b="1" lang="de-DE" sz="1400"/>
              <a:t>mplications for the conclusions:</a:t>
            </a:r>
            <a:endParaRPr b="1" sz="1400"/>
          </a:p>
          <a:p>
            <a:pPr indent="-317500" lvl="0" marL="457200" rtl="0" algn="l">
              <a:lnSpc>
                <a:spcPct val="115000"/>
              </a:lnSpc>
              <a:spcBef>
                <a:spcPts val="1200"/>
              </a:spcBef>
              <a:spcAft>
                <a:spcPts val="0"/>
              </a:spcAft>
              <a:buClr>
                <a:schemeClr val="dk1"/>
              </a:buClr>
              <a:buSzPts val="1400"/>
              <a:buChar char="-"/>
            </a:pPr>
            <a:r>
              <a:rPr lang="de-DE" sz="1400"/>
              <a:t>High average rigor (5.30) confirms that identified structural gaps (Safety/Fragility) are </a:t>
            </a:r>
            <a:r>
              <a:rPr b="1" lang="de-DE" sz="1400"/>
              <a:t>genuine architectural challenges</a:t>
            </a:r>
            <a:r>
              <a:rPr lang="de-DE" sz="1400"/>
              <a:t>, not the result of poor reporting.</a:t>
            </a:r>
            <a:endParaRPr sz="1400"/>
          </a:p>
          <a:p>
            <a:pPr indent="-317500" lvl="0" marL="457200" rtl="0" algn="just">
              <a:lnSpc>
                <a:spcPct val="115000"/>
              </a:lnSpc>
              <a:spcBef>
                <a:spcPts val="0"/>
              </a:spcBef>
              <a:spcAft>
                <a:spcPts val="0"/>
              </a:spcAft>
              <a:buClr>
                <a:schemeClr val="dk1"/>
              </a:buClr>
              <a:buSzPts val="1400"/>
              <a:buChar char="-"/>
            </a:pPr>
            <a:r>
              <a:rPr lang="de-DE" sz="1400"/>
              <a:t>The high score for methodological description (93%) ensures that these patterns are documented clearly enough for the community to transition from a focus on "execution" to a more rigorous paradigm of "autonomous verification."</a:t>
            </a:r>
            <a:endParaRPr sz="1400">
              <a:solidFill>
                <a:srgbClr val="595959"/>
              </a:solidFill>
            </a:endParaRPr>
          </a:p>
          <a:p>
            <a:pPr indent="0" lvl="0" marL="0" rtl="0" algn="l">
              <a:lnSpc>
                <a:spcPct val="115000"/>
              </a:lnSpc>
              <a:spcBef>
                <a:spcPts val="1200"/>
              </a:spcBef>
              <a:spcAft>
                <a:spcPts val="0"/>
              </a:spcAft>
              <a:buNone/>
            </a:pPr>
            <a:r>
              <a:t/>
            </a:r>
            <a:endParaRPr b="1" sz="1400"/>
          </a:p>
          <a:p>
            <a:pPr indent="0" lvl="0" marL="0" rtl="0" algn="l">
              <a:spcBef>
                <a:spcPts val="1200"/>
              </a:spcBef>
              <a:spcAft>
                <a:spcPts val="0"/>
              </a:spcAft>
              <a:buClr>
                <a:schemeClr val="dk1"/>
              </a:buClr>
              <a:buSzPts val="1100"/>
              <a:buFont typeface="Arial"/>
              <a:buNone/>
            </a:pPr>
            <a:r>
              <a:t/>
            </a:r>
            <a:endParaRPr sz="1400"/>
          </a:p>
          <a:p>
            <a:pPr indent="0" lvl="0" marL="0" rtl="0" algn="l">
              <a:lnSpc>
                <a:spcPct val="114000"/>
              </a:lnSpc>
              <a:spcBef>
                <a:spcPts val="0"/>
              </a:spcBef>
              <a:spcAft>
                <a:spcPts val="0"/>
              </a:spcAft>
              <a:buClr>
                <a:srgbClr val="000000"/>
              </a:buClr>
              <a:buFont typeface="Arial"/>
              <a:buNone/>
            </a:pPr>
            <a:r>
              <a:t/>
            </a:r>
            <a:endParaRPr sz="1400"/>
          </a:p>
        </p:txBody>
      </p:sp>
      <p:sp>
        <p:nvSpPr>
          <p:cNvPr id="343" name="Google Shape;343;p44"/>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344" name="Google Shape;344;p44"/>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345" name="Google Shape;345;p44"/>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3.4 Quality Assessment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5"/>
          <p:cNvSpPr txBox="1"/>
          <p:nvPr>
            <p:ph idx="1" type="body"/>
          </p:nvPr>
        </p:nvSpPr>
        <p:spPr>
          <a:xfrm>
            <a:off x="319100" y="1762327"/>
            <a:ext cx="8508900" cy="453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de-DE"/>
              <a:t>Current Field Maturity:</a:t>
            </a:r>
            <a:r>
              <a:rPr lang="de-DE"/>
              <a:t> The literature demonstrates high proficiency in Translation (converting neural semantic understanding into formal symbolic action languages) (</a:t>
            </a:r>
            <a:r>
              <a:rPr lang="de-DE" u="sng">
                <a:solidFill>
                  <a:schemeClr val="hlink"/>
                </a:solidFill>
                <a:hlinkClick r:id="rId3"/>
              </a:rPr>
              <a:t>Dagan, G et al. 2023</a:t>
            </a:r>
            <a:r>
              <a:rPr lang="de-DE"/>
              <a:t>, </a:t>
            </a:r>
            <a:r>
              <a:rPr lang="de-DE" u="sng">
                <a:solidFill>
                  <a:schemeClr val="hlink"/>
                </a:solidFill>
                <a:hlinkClick r:id="rId4"/>
              </a:rPr>
              <a:t>Ichida, A.Y. &amp; Meneguzzi, F. 2023</a:t>
            </a:r>
            <a:r>
              <a:rPr lang="de-DE"/>
              <a:t>) and Explainability (achieved via Multi-Agent Systems and Semantic grounding) (</a:t>
            </a:r>
            <a:r>
              <a:rPr lang="de-DE" u="sng">
                <a:solidFill>
                  <a:schemeClr val="hlink"/>
                </a:solidFill>
                <a:hlinkClick r:id="rId5"/>
              </a:rPr>
              <a:t>Cai, X. et al. 2025</a:t>
            </a:r>
            <a:r>
              <a:rPr lang="de-DE"/>
              <a:t>, </a:t>
            </a:r>
            <a:r>
              <a:rPr lang="de-DE" u="sng">
                <a:solidFill>
                  <a:schemeClr val="hlink"/>
                </a:solidFill>
                <a:hlinkClick r:id="rId6"/>
              </a:rPr>
              <a:t>Sampath, A.N. et al. 2025</a:t>
            </a:r>
            <a:r>
              <a:rPr lang="de-DE"/>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The Contextual Fragility Gap: </a:t>
            </a:r>
            <a:r>
              <a:rPr lang="de-DE"/>
              <a:t>There is an over-reliance on volatile prompts and Working Memory; architectures are currently designed to "solve the moment" rather than maintain stable, long-term historical or predictive states (</a:t>
            </a:r>
            <a:r>
              <a:rPr lang="de-DE" u="sng">
                <a:solidFill>
                  <a:schemeClr val="hlink"/>
                </a:solidFill>
                <a:hlinkClick r:id="rId7"/>
              </a:rPr>
              <a:t>Kane, B. et al. 2022</a:t>
            </a:r>
            <a:r>
              <a:rPr lang="de-DE"/>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de-DE"/>
              <a:t>The Logical-Safety Gap:</a:t>
            </a:r>
            <a:r>
              <a:rPr lang="de-DE"/>
              <a:t> Symbolic layers are primarily utilized for task execution rather than strict Formal Verification (</a:t>
            </a:r>
            <a:r>
              <a:rPr lang="de-DE" u="sng">
                <a:solidFill>
                  <a:schemeClr val="hlink"/>
                </a:solidFill>
                <a:hlinkClick r:id="rId8"/>
              </a:rPr>
              <a:t>Capitanelli, A., Mastrogiovanni, F. 2024</a:t>
            </a:r>
            <a:r>
              <a:rPr lang="de-DE"/>
              <a:t>), treating safety and verifiable compliance as an "implicit byproduct" rather than a fundamental architectural priority (</a:t>
            </a:r>
            <a:r>
              <a:rPr lang="de-DE" u="sng">
                <a:solidFill>
                  <a:schemeClr val="hlink"/>
                </a:solidFill>
                <a:hlinkClick r:id="rId9"/>
              </a:rPr>
              <a:t>Jain, A. et al. 2024</a:t>
            </a:r>
            <a:r>
              <a:rPr lang="de-DE"/>
              <a:t>, </a:t>
            </a:r>
            <a:r>
              <a:rPr lang="de-DE" u="sng">
                <a:solidFill>
                  <a:schemeClr val="hlink"/>
                </a:solidFill>
                <a:hlinkClick r:id="rId10"/>
              </a:rPr>
              <a:t>Lee, C.P. et al. 2025</a:t>
            </a:r>
            <a:r>
              <a:rPr lang="de-DE"/>
              <a:t>).</a:t>
            </a:r>
            <a:endParaRPr/>
          </a:p>
          <a:p>
            <a:pPr indent="0" lvl="0" marL="0" rtl="0" algn="l">
              <a:lnSpc>
                <a:spcPct val="114000"/>
              </a:lnSpc>
              <a:spcBef>
                <a:spcPts val="0"/>
              </a:spcBef>
              <a:spcAft>
                <a:spcPts val="0"/>
              </a:spcAft>
              <a:buClr>
                <a:srgbClr val="000000"/>
              </a:buClr>
              <a:buFont typeface="Arial"/>
              <a:buNone/>
            </a:pPr>
            <a:r>
              <a:t/>
            </a:r>
            <a:endParaRPr/>
          </a:p>
        </p:txBody>
      </p:sp>
      <p:sp>
        <p:nvSpPr>
          <p:cNvPr id="351" name="Google Shape;351;p45"/>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352" name="Google Shape;352;p45"/>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353" name="Google Shape;353;p45"/>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4 Conclusions</a:t>
            </a:r>
            <a:endParaRPr sz="3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6"/>
          <p:cNvSpPr txBox="1"/>
          <p:nvPr>
            <p:ph idx="1" type="body"/>
          </p:nvPr>
        </p:nvSpPr>
        <p:spPr>
          <a:xfrm>
            <a:off x="319100" y="1762327"/>
            <a:ext cx="8508900" cy="453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de-DE"/>
              <a:t>The Role of MAS Auditors:</a:t>
            </a:r>
            <a:r>
              <a:rPr lang="de-DE"/>
              <a:t> To compensate for this lack of internal safety-critical reasoning, Multi-Agent Systems are frequently deployed to act as external "Auditors," maintaining compliance through decentralized oversight (</a:t>
            </a:r>
            <a:r>
              <a:rPr lang="de-DE" u="sng">
                <a:solidFill>
                  <a:schemeClr val="hlink"/>
                </a:solidFill>
                <a:hlinkClick r:id="rId3"/>
              </a:rPr>
              <a:t>Cai, X. et al. 2025</a:t>
            </a:r>
            <a:r>
              <a:rPr lang="de-DE"/>
              <a:t>, </a:t>
            </a:r>
            <a:r>
              <a:rPr lang="de-DE" u="sng">
                <a:solidFill>
                  <a:schemeClr val="hlink"/>
                </a:solidFill>
                <a:hlinkClick r:id="rId4"/>
              </a:rPr>
              <a:t>Jeong, S et al. 2025</a:t>
            </a:r>
            <a:r>
              <a:rPr lang="de-DE"/>
              <a:t>).</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4000"/>
              </a:lnSpc>
              <a:spcBef>
                <a:spcPts val="0"/>
              </a:spcBef>
              <a:spcAft>
                <a:spcPts val="0"/>
              </a:spcAft>
              <a:buClr>
                <a:srgbClr val="000000"/>
              </a:buClr>
              <a:buFont typeface="Arial"/>
              <a:buNone/>
            </a:pPr>
            <a:r>
              <a:rPr b="1" lang="de-DE"/>
              <a:t>The Temporal-Simulation Gap: </a:t>
            </a:r>
            <a:r>
              <a:rPr lang="de-DE"/>
              <a:t>Internal simulation (e.g. by using World Models) is currently employed as a reactive tool to correct immediate perception, rather than a proactive tool for simulating and preventing failures in future long-term sequences (</a:t>
            </a:r>
            <a:r>
              <a:rPr lang="de-DE" u="sng">
                <a:solidFill>
                  <a:schemeClr val="hlink"/>
                </a:solidFill>
                <a:hlinkClick r:id="rId5"/>
              </a:rPr>
              <a:t>Keller, L. et al. 2025</a:t>
            </a:r>
            <a:r>
              <a:rPr lang="de-DE"/>
              <a:t>, </a:t>
            </a:r>
            <a:r>
              <a:rPr lang="de-DE" u="sng">
                <a:solidFill>
                  <a:schemeClr val="hlink"/>
                </a:solidFill>
                <a:hlinkClick r:id="rId6"/>
              </a:rPr>
              <a:t>Pezzato, C. et al. 2023</a:t>
            </a:r>
            <a:r>
              <a:rPr lang="de-DE"/>
              <a:t>).</a:t>
            </a:r>
            <a:endParaRPr/>
          </a:p>
        </p:txBody>
      </p:sp>
      <p:sp>
        <p:nvSpPr>
          <p:cNvPr id="359" name="Google Shape;359;p46"/>
          <p:cNvSpPr txBox="1"/>
          <p:nvPr>
            <p:ph idx="12" type="sldNum"/>
          </p:nvPr>
        </p:nvSpPr>
        <p:spPr>
          <a:xfrm>
            <a:off x="6774934" y="6473313"/>
            <a:ext cx="2052000" cy="3651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de-DE"/>
              <a:t>‹#›</a:t>
            </a:fld>
            <a:endParaRPr/>
          </a:p>
        </p:txBody>
      </p:sp>
      <p:sp>
        <p:nvSpPr>
          <p:cNvPr id="360" name="Google Shape;360;p46"/>
          <p:cNvSpPr txBox="1"/>
          <p:nvPr>
            <p:ph idx="11" type="ftr"/>
          </p:nvPr>
        </p:nvSpPr>
        <p:spPr>
          <a:xfrm>
            <a:off x="311150" y="6473325"/>
            <a:ext cx="8006400" cy="365100"/>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None/>
            </a:pPr>
            <a:r>
              <a:rPr lang="de-DE"/>
              <a:t>M. Peñalver Guilera (TUM) | Chair of Robotics, Artificial Intelligence and Real-time Systems | Topic Presentation</a:t>
            </a:r>
            <a:endParaRPr/>
          </a:p>
        </p:txBody>
      </p:sp>
      <p:sp>
        <p:nvSpPr>
          <p:cNvPr id="361" name="Google Shape;361;p46"/>
          <p:cNvSpPr txBox="1"/>
          <p:nvPr>
            <p:ph type="title"/>
          </p:nvPr>
        </p:nvSpPr>
        <p:spPr>
          <a:xfrm>
            <a:off x="319090" y="994334"/>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de-DE"/>
              <a:t>4 Conclusions</a:t>
            </a:r>
            <a:endParaRPr sz="3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7"/>
          <p:cNvSpPr txBox="1"/>
          <p:nvPr>
            <p:ph type="title"/>
          </p:nvPr>
        </p:nvSpPr>
        <p:spPr>
          <a:xfrm>
            <a:off x="319090" y="994334"/>
            <a:ext cx="8508900" cy="501600"/>
          </a:xfrm>
          <a:prstGeom prst="rect">
            <a:avLst/>
          </a:prstGeom>
          <a:noFill/>
          <a:ln>
            <a:noFill/>
          </a:ln>
        </p:spPr>
        <p:txBody>
          <a:bodyPr anchorCtr="0" anchor="t" bIns="0" lIns="0" spcFirstLastPara="1" rIns="0" wrap="square" tIns="0">
            <a:noAutofit/>
          </a:bodyPr>
          <a:lstStyle/>
          <a:p>
            <a:pPr indent="0" lvl="0" marL="0" rtl="0" algn="l">
              <a:lnSpc>
                <a:spcPct val="106666"/>
              </a:lnSpc>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arissa-Design">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el 2">
  <a:themeElements>
    <a:clrScheme name="TUM">
      <a:dk1>
        <a:srgbClr val="000000"/>
      </a:dk1>
      <a:lt1>
        <a:srgbClr val="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halt">
  <a:themeElements>
    <a:clrScheme name="TUM">
      <a:dk1>
        <a:srgbClr val="000000"/>
      </a:dk1>
      <a:lt1>
        <a:srgbClr val="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60104_TUM_Praesentation_p_v1">
  <a:themeElements>
    <a:clrScheme name="TUM">
      <a:dk1>
        <a:srgbClr val="000000"/>
      </a:dk1>
      <a:lt1>
        <a:srgbClr val="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